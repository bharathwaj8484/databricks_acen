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14630400" cy="8229600"/>
  <p:notesSz cx="8229600" cy="146304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Prata" panose="020B0604020202020204" charset="0"/>
      <p:regular r:id="rId20"/>
    </p:embeddedFont>
    <p:embeddedFont>
      <p:font typeface="Raleway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782"/>
    <a:srgbClr val="1B1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209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6DAA9-8F43-B66C-994A-CE2C65CF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BCCEB-51B0-791C-5E2E-82B5DC363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D3FE9-8BAA-82A9-4F57-56D893315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9886D-4E05-4FCD-880D-AA803A984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2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76418" y="0"/>
            <a:ext cx="542156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090" y="24988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Databricks 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375090" y="3547824"/>
            <a:ext cx="51183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Employee Information. 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75090" y="5317950"/>
            <a:ext cx="45934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By </a:t>
            </a:r>
            <a:r>
              <a:rPr lang="en-US" sz="3600" dirty="0">
                <a:solidFill>
                  <a:srgbClr val="F9D933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Bharathwaj K S</a:t>
            </a:r>
            <a:endParaRPr lang="en-US" sz="3600" dirty="0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83CC3E7E-FCCC-03EB-347E-EA3FC8E60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0" y="0"/>
            <a:ext cx="4952676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378" y="4382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Description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321651" y="1690092"/>
            <a:ext cx="8500696" cy="5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80060" indent="-457200" algn="l">
              <a:lnSpc>
                <a:spcPts val="285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focuses on managing and transforming employee-related data for analytical and reporting purposes within the </a:t>
            </a:r>
            <a:r>
              <a:rPr lang="en-US" sz="2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Databricks Lakehouse platform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</a:p>
          <a:p>
            <a:pPr marL="480060" indent="-457200">
              <a:lnSpc>
                <a:spcPts val="285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are ingesting raw employee information from multiple CSV sources into structured delta tables.</a:t>
            </a:r>
          </a:p>
          <a:p>
            <a:pPr marL="480060" indent="-457200">
              <a:lnSpc>
                <a:spcPts val="285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pipeline is built to handle large datasets across multiple domains like Employee, Payroll, Projects, Trainings, and Departments</a:t>
            </a:r>
          </a:p>
          <a:p>
            <a:pPr marL="480060" indent="-457200">
              <a:lnSpc>
                <a:spcPts val="285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goal is to create the data flow through raw, cleaned, conformed, and publication zones with a robust and scalable design.</a:t>
            </a:r>
          </a:p>
          <a:p>
            <a:pPr marL="480060" indent="-457200">
              <a:lnSpc>
                <a:spcPts val="2850"/>
              </a:lnSpc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Ultimately, this project delivers meaningful insights such as total training hours per employee, department alignment, payroll summary, and current project allocation.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4648152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59778" y="5468482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89" y="5958959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863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5043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A767CA14-F9FF-BEA3-FFBE-13FE3E235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182867" y="972260"/>
            <a:ext cx="6980149" cy="44962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96F8D5-0F13-7469-642A-67B1E9F1C63B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77724" y="0"/>
            <a:ext cx="4952676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6726" y="1794409"/>
            <a:ext cx="6980149" cy="44962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352" y="5976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Model</a:t>
            </a:r>
            <a:endParaRPr lang="en-US" sz="4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B56EC6-E1C6-F485-EC81-59647CFCB79D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43BB7-034A-9D62-35F6-6994F0FE4CDA}"/>
              </a:ext>
            </a:extLst>
          </p:cNvPr>
          <p:cNvSpPr txBox="1"/>
          <p:nvPr/>
        </p:nvSpPr>
        <p:spPr>
          <a:xfrm>
            <a:off x="7703216" y="867756"/>
            <a:ext cx="6927184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Five Core Entities</a:t>
            </a:r>
            <a:endParaRPr lang="en-US" sz="3200" dirty="0"/>
          </a:p>
          <a:p>
            <a:pPr>
              <a:buSzPct val="100000"/>
            </a:pPr>
            <a:endParaRPr lang="en-US" sz="3200" b="1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 algn="l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personal info, contact, skills, FK links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Department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department name, location, manager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project metadata, domain, manager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courses attended, dates, duration</a:t>
            </a:r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/>
            </a:pPr>
            <a:r>
              <a:rPr lang="en-US" sz="32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</a:t>
            </a: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 pay details, overtime, bonuses</a:t>
            </a:r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419" y="443805"/>
            <a:ext cx="58421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Business Justification</a:t>
            </a:r>
            <a:endParaRPr lang="en-US" sz="44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7EDECD-630E-A2BB-FD2F-919DF5C4C23B}"/>
              </a:ext>
            </a:extLst>
          </p:cNvPr>
          <p:cNvGrpSpPr/>
          <p:nvPr/>
        </p:nvGrpSpPr>
        <p:grpSpPr>
          <a:xfrm>
            <a:off x="366473" y="1615403"/>
            <a:ext cx="510302" cy="510302"/>
            <a:chOff x="793790" y="2417445"/>
            <a:chExt cx="510302" cy="510302"/>
          </a:xfrm>
        </p:grpSpPr>
        <p:sp>
          <p:nvSpPr>
            <p:cNvPr id="3" name="Shape 1"/>
            <p:cNvSpPr/>
            <p:nvPr/>
          </p:nvSpPr>
          <p:spPr>
            <a:xfrm>
              <a:off x="793790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60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5" name="Text 2"/>
          <p:cNvSpPr/>
          <p:nvPr/>
        </p:nvSpPr>
        <p:spPr>
          <a:xfrm>
            <a:off x="1103589" y="1693270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Enhanced Workforce Analysis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29822" y="2854782"/>
            <a:ext cx="3728947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project enables business users and HR managers to analyze detailed workforce information in a clean and ready-to-consume format.</a:t>
            </a:r>
            <a:endParaRPr lang="en-US" sz="24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BCCE25-47B2-92D4-79BE-1FBD8CF27D31}"/>
              </a:ext>
            </a:extLst>
          </p:cNvPr>
          <p:cNvGrpSpPr/>
          <p:nvPr/>
        </p:nvGrpSpPr>
        <p:grpSpPr>
          <a:xfrm>
            <a:off x="4810602" y="1689821"/>
            <a:ext cx="510302" cy="510302"/>
            <a:chOff x="5235893" y="2417445"/>
            <a:chExt cx="510302" cy="510302"/>
          </a:xfrm>
        </p:grpSpPr>
        <p:sp>
          <p:nvSpPr>
            <p:cNvPr id="7" name="Shape 4"/>
            <p:cNvSpPr/>
            <p:nvPr/>
          </p:nvSpPr>
          <p:spPr>
            <a:xfrm>
              <a:off x="5235893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0963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9" name="Text 5"/>
          <p:cNvSpPr/>
          <p:nvPr/>
        </p:nvSpPr>
        <p:spPr>
          <a:xfrm>
            <a:off x="5547717" y="1767688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Specific Query Resolution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810601" y="2593817"/>
            <a:ext cx="4788299" cy="174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instance, a delivery manager can now answer questions like, “Which employee completed a specific training and also worked on Project X?” — without needing to manually combine datasets or rely on outdated records.</a:t>
            </a:r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72D59B-8411-0E33-6F31-BE6B1E32F00B}"/>
              </a:ext>
            </a:extLst>
          </p:cNvPr>
          <p:cNvGrpSpPr/>
          <p:nvPr/>
        </p:nvGrpSpPr>
        <p:grpSpPr>
          <a:xfrm>
            <a:off x="9598901" y="1693270"/>
            <a:ext cx="510302" cy="510302"/>
            <a:chOff x="9677995" y="2417445"/>
            <a:chExt cx="510302" cy="510302"/>
          </a:xfrm>
        </p:grpSpPr>
        <p:sp>
          <p:nvSpPr>
            <p:cNvPr id="11" name="Shape 7"/>
            <p:cNvSpPr/>
            <p:nvPr/>
          </p:nvSpPr>
          <p:spPr>
            <a:xfrm>
              <a:off x="9677995" y="241744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3065" y="2459950"/>
              <a:ext cx="340162" cy="425291"/>
            </a:xfrm>
            <a:prstGeom prst="rect">
              <a:avLst/>
            </a:prstGeom>
          </p:spPr>
        </p:pic>
      </p:grpSp>
      <p:sp>
        <p:nvSpPr>
          <p:cNvPr id="13" name="Text 8"/>
          <p:cNvSpPr/>
          <p:nvPr/>
        </p:nvSpPr>
        <p:spPr>
          <a:xfrm>
            <a:off x="10394717" y="1694513"/>
            <a:ext cx="2303189" cy="538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Reduced Manual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Effort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10394717" y="2596325"/>
            <a:ext cx="3985815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 reduces the manual effort for reporting by transforming semi-structured data into governed, historical views.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6D9ACD1-98B0-1A32-C527-1116FFBB5CED}"/>
              </a:ext>
            </a:extLst>
          </p:cNvPr>
          <p:cNvGrpSpPr/>
          <p:nvPr/>
        </p:nvGrpSpPr>
        <p:grpSpPr>
          <a:xfrm>
            <a:off x="397065" y="5767531"/>
            <a:ext cx="510302" cy="510302"/>
            <a:chOff x="793790" y="5535335"/>
            <a:chExt cx="510302" cy="510302"/>
          </a:xfrm>
        </p:grpSpPr>
        <p:sp>
          <p:nvSpPr>
            <p:cNvPr id="15" name="Shape 10"/>
            <p:cNvSpPr/>
            <p:nvPr/>
          </p:nvSpPr>
          <p:spPr>
            <a:xfrm>
              <a:off x="793790" y="553533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8860" y="5577840"/>
              <a:ext cx="340162" cy="425291"/>
            </a:xfrm>
            <a:prstGeom prst="rect">
              <a:avLst/>
            </a:prstGeom>
          </p:spPr>
        </p:pic>
      </p:grpSp>
      <p:sp>
        <p:nvSpPr>
          <p:cNvPr id="17" name="Text 11"/>
          <p:cNvSpPr/>
          <p:nvPr/>
        </p:nvSpPr>
        <p:spPr>
          <a:xfrm>
            <a:off x="1134181" y="5845398"/>
            <a:ext cx="4460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Audit Readiness &amp; Transparency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466577" y="6577872"/>
            <a:ext cx="676378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Also ensures audit readiness and transparency across employee lifecycle events like pay raises, reassignments, or certifications.</a:t>
            </a:r>
            <a:endParaRPr lang="en-US" sz="2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AF31E1F-BECC-B2A9-C619-3C3BB5C5802D}"/>
              </a:ext>
            </a:extLst>
          </p:cNvPr>
          <p:cNvGrpSpPr/>
          <p:nvPr/>
        </p:nvGrpSpPr>
        <p:grpSpPr>
          <a:xfrm>
            <a:off x="7978090" y="5767531"/>
            <a:ext cx="510302" cy="510302"/>
            <a:chOff x="7457003" y="5535335"/>
            <a:chExt cx="510302" cy="510302"/>
          </a:xfrm>
        </p:grpSpPr>
        <p:sp>
          <p:nvSpPr>
            <p:cNvPr id="19" name="Shape 13"/>
            <p:cNvSpPr/>
            <p:nvPr/>
          </p:nvSpPr>
          <p:spPr>
            <a:xfrm>
              <a:off x="7457003" y="5535335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2074" y="5577840"/>
              <a:ext cx="340162" cy="425291"/>
            </a:xfrm>
            <a:prstGeom prst="rect">
              <a:avLst/>
            </a:prstGeom>
          </p:spPr>
        </p:pic>
      </p:grpSp>
      <p:sp>
        <p:nvSpPr>
          <p:cNvPr id="21" name="Text 14"/>
          <p:cNvSpPr/>
          <p:nvPr/>
        </p:nvSpPr>
        <p:spPr>
          <a:xfrm>
            <a:off x="8715206" y="5845398"/>
            <a:ext cx="3761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Scalable Data Management</a:t>
            </a:r>
            <a:endParaRPr lang="en-US" sz="3200" dirty="0"/>
          </a:p>
        </p:txBody>
      </p:sp>
      <p:sp>
        <p:nvSpPr>
          <p:cNvPr id="22" name="Text 15"/>
          <p:cNvSpPr/>
          <p:nvPr/>
        </p:nvSpPr>
        <p:spPr>
          <a:xfrm>
            <a:off x="8109278" y="6441631"/>
            <a:ext cx="5962556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Since data is managed via Delta tables on Databricks, it supports ACID transactions, scalable queries, and time-travel to track historical values efficiently.</a:t>
            </a:r>
            <a:endParaRPr lang="en-US" sz="2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DED5D8-C8EC-E08C-B8AA-1BD709413F98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0C17E3-DF1D-B8B2-F8D9-2A4FFD4AF341}"/>
              </a:ext>
            </a:extLst>
          </p:cNvPr>
          <p:cNvGrpSpPr/>
          <p:nvPr/>
        </p:nvGrpSpPr>
        <p:grpSpPr>
          <a:xfrm rot="10800000">
            <a:off x="4810601" y="8459536"/>
            <a:ext cx="4564975" cy="4564975"/>
            <a:chOff x="5032653" y="2413516"/>
            <a:chExt cx="4564975" cy="4564975"/>
          </a:xfrm>
        </p:grpSpPr>
        <p:pic>
          <p:nvPicPr>
            <p:cNvPr id="30" name="Image 0" descr="preencoded.png">
              <a:extLst>
                <a:ext uri="{FF2B5EF4-FFF2-40B4-BE49-F238E27FC236}">
                  <a16:creationId xmlns:a16="http://schemas.microsoft.com/office/drawing/2014/main" id="{45E3B7C9-79E2-DABB-1317-CE7ED861E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96D1FD30-5AE1-929B-E804-1A340C07250B}"/>
                </a:ext>
              </a:extLst>
            </p:cNvPr>
            <p:cNvSpPr/>
            <p:nvPr/>
          </p:nvSpPr>
          <p:spPr>
            <a:xfrm>
              <a:off x="6226731" y="31765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650" dirty="0"/>
            </a:p>
          </p:txBody>
        </p:sp>
        <p:pic>
          <p:nvPicPr>
            <p:cNvPr id="32" name="Image 1" descr="preencoded.png">
              <a:extLst>
                <a:ext uri="{FF2B5EF4-FFF2-40B4-BE49-F238E27FC236}">
                  <a16:creationId xmlns:a16="http://schemas.microsoft.com/office/drawing/2014/main" id="{35BE4487-A9E0-8C85-EA4D-C2D337700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01D8223A-790D-34E3-9A57-EE8209D7B861}"/>
                </a:ext>
              </a:extLst>
            </p:cNvPr>
            <p:cNvSpPr/>
            <p:nvPr/>
          </p:nvSpPr>
          <p:spPr>
            <a:xfrm>
              <a:off x="8452604" y="35650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650" dirty="0"/>
            </a:p>
          </p:txBody>
        </p:sp>
        <p:pic>
          <p:nvPicPr>
            <p:cNvPr id="34" name="Image 2" descr="preencoded.png">
              <a:extLst>
                <a:ext uri="{FF2B5EF4-FFF2-40B4-BE49-F238E27FC236}">
                  <a16:creationId xmlns:a16="http://schemas.microsoft.com/office/drawing/2014/main" id="{18DD9F7F-CA2F-417C-FD45-84665764F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1496AC35-FF2F-6147-AD6A-6E201170F12A}"/>
                </a:ext>
              </a:extLst>
            </p:cNvPr>
            <p:cNvSpPr/>
            <p:nvPr/>
          </p:nvSpPr>
          <p:spPr>
            <a:xfrm>
              <a:off x="8064103" y="5790962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650" dirty="0"/>
            </a:p>
          </p:txBody>
        </p:sp>
        <p:pic>
          <p:nvPicPr>
            <p:cNvPr id="36" name="Image 3" descr="preencoded.png">
              <a:extLst>
                <a:ext uri="{FF2B5EF4-FFF2-40B4-BE49-F238E27FC236}">
                  <a16:creationId xmlns:a16="http://schemas.microsoft.com/office/drawing/2014/main" id="{F6E5CC75-D8E3-1205-4B0E-47D31CC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37" name="Text 12">
              <a:extLst>
                <a:ext uri="{FF2B5EF4-FFF2-40B4-BE49-F238E27FC236}">
                  <a16:creationId xmlns:a16="http://schemas.microsoft.com/office/drawing/2014/main" id="{3C360D72-0B30-3597-D139-D1EF38D3340D}"/>
                </a:ext>
              </a:extLst>
            </p:cNvPr>
            <p:cNvSpPr/>
            <p:nvPr/>
          </p:nvSpPr>
          <p:spPr>
            <a:xfrm>
              <a:off x="5838230" y="5402461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65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907" y="285410"/>
            <a:ext cx="11808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Flow (Rawz → Work → Confz → Pubz)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260730" y="1444996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Rawz Zone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2201" y="1935414"/>
            <a:ext cx="4483865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the initial landing zone for raw CSV files ingested through a custom Python utility. All files are appended with no transformation and an audit log is maintained.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822448" y="1289423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 Zone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826625" y="1767500"/>
            <a:ext cx="4755980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this zone, raw data undergoes cleaning, standardization, and deduplication using deterministic checksum logic. It handles validations like proper date formats, padded IDs, and email/phone cleaning.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822448" y="4210818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Confz Zone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9831356" y="4701237"/>
            <a:ext cx="4484002" cy="17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layer applies Slowly Changing Dimension Type 2 (SCD2) logic. We manage full data history and track changes across attributes by marking old rows inactive (curr_ind = 'N') and new rows active (curr_ind = 'Y').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260729" y="4168356"/>
            <a:ext cx="3260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Pubz Zone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132200" y="4640419"/>
            <a:ext cx="4483865" cy="1807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final reporting layer where consolidated results are published, including key metrics like total training hours, payroll details, and project participation—all in one unified view.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A72CA5-E542-3DD8-B165-FE8EED53B3CA}"/>
              </a:ext>
            </a:extLst>
          </p:cNvPr>
          <p:cNvGrpSpPr/>
          <p:nvPr/>
        </p:nvGrpSpPr>
        <p:grpSpPr>
          <a:xfrm>
            <a:off x="4938858" y="1631412"/>
            <a:ext cx="4564975" cy="4564975"/>
            <a:chOff x="5032653" y="2413516"/>
            <a:chExt cx="4564975" cy="4564975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226731" y="31765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650" dirty="0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8452604" y="3565088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650" dirty="0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8064103" y="5790962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650" dirty="0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2653" y="2413516"/>
              <a:ext cx="4564975" cy="4564975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5838230" y="5402461"/>
              <a:ext cx="339328" cy="4242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250"/>
                </a:lnSpc>
                <a:buNone/>
              </a:pPr>
              <a:r>
                <a:rPr lang="en-US" sz="265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650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00ABB-2EDF-637D-32BE-D0909E21AC4E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D7270-E561-4AEF-2A08-AD3083B55E2C}"/>
              </a:ext>
            </a:extLst>
          </p:cNvPr>
          <p:cNvSpPr txBox="1"/>
          <p:nvPr/>
        </p:nvSpPr>
        <p:spPr>
          <a:xfrm>
            <a:off x="2203373" y="7085009"/>
            <a:ext cx="986009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1200" dirty="0">
                <a:solidFill>
                  <a:srgbClr val="F2E782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Data is the new science. Big Data holds the answers. </a:t>
            </a:r>
          </a:p>
          <a:p>
            <a:r>
              <a:rPr lang="en-US" dirty="0">
                <a:solidFill>
                  <a:srgbClr val="F2E782"/>
                </a:solidFill>
                <a:latin typeface="Calibri" panose="020F0502020204030204" pitchFamily="34" charset="0"/>
              </a:rPr>
              <a:t>                                             		-Patricia </a:t>
            </a:r>
            <a:r>
              <a:rPr lang="en-US" dirty="0" err="1">
                <a:solidFill>
                  <a:srgbClr val="F2E782"/>
                </a:solidFill>
                <a:latin typeface="Calibri" panose="020F0502020204030204" pitchFamily="34" charset="0"/>
              </a:rPr>
              <a:t>Florissi</a:t>
            </a:r>
            <a:r>
              <a:rPr lang="en-US" dirty="0">
                <a:solidFill>
                  <a:srgbClr val="F2E782"/>
                </a:solidFill>
                <a:latin typeface="Calibri" panose="020F0502020204030204" pitchFamily="34" charset="0"/>
              </a:rPr>
              <a:t> (Accenture Technology Executive, former VP)</a:t>
            </a:r>
            <a:endParaRPr lang="en-US" dirty="0">
              <a:solidFill>
                <a:srgbClr val="F2E78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12618" y="372723"/>
            <a:ext cx="6638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Concepts Explained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67158" y="1858023"/>
            <a:ext cx="3664863" cy="2873565"/>
          </a:xfrm>
          <a:prstGeom prst="roundRect">
            <a:avLst>
              <a:gd name="adj" fmla="val 141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3972" y="208483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Audit Table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3972" y="2583828"/>
            <a:ext cx="3211235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 centralized delta table in Rawz zone that tracks each ingested file. It logs the filename, load status, number of rows inserted, and the full path for traceability.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765050" y="1687418"/>
            <a:ext cx="3664863" cy="2873565"/>
          </a:xfrm>
          <a:prstGeom prst="roundRect">
            <a:avLst>
              <a:gd name="adj" fmla="val 141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91864" y="1914232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Surrogate Key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91864" y="2413223"/>
            <a:ext cx="3211235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Automatically generated unique identifiers using uuid() in the Work zone tables (e.g., </a:t>
            </a:r>
            <a:r>
              <a:rPr lang="en-US" sz="2000" dirty="0" err="1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Emp_Key</a:t>
            </a: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, etc.). These act as immutable primary keys for consistent SCD2 tracking.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68952" y="5382045"/>
            <a:ext cx="7783235" cy="2483159"/>
          </a:xfrm>
          <a:prstGeom prst="roundRect">
            <a:avLst>
              <a:gd name="adj" fmla="val 186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3922580" y="574259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Load Key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922580" y="6241584"/>
            <a:ext cx="7102793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Cambria" panose="02040503050406030204" pitchFamily="18" charset="0"/>
                <a:ea typeface="Cambria" panose="02040503050406030204" pitchFamily="18" charset="0"/>
                <a:cs typeface="Raleway" pitchFamily="34" charset="-120"/>
              </a:rPr>
              <a:t>Every load generates a unique load_key using a custom function. Format used is: LCKYYYYMMDDHHMMSSDDDD (e.g., LCK202506031015398377). This key helps trace which rows came from which file and timestamp.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A5760-1FAB-2138-72B3-5388F132D06F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diagram of a machine&#10;&#10;AI-generated content may be incorrect.">
            <a:extLst>
              <a:ext uri="{FF2B5EF4-FFF2-40B4-BE49-F238E27FC236}">
                <a16:creationId xmlns:a16="http://schemas.microsoft.com/office/drawing/2014/main" id="{11BF4BC7-0648-D25D-E0D1-911026D7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853" y="1605975"/>
            <a:ext cx="6679365" cy="342857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A0930FE-CA2D-12E7-E68C-2C468F5D8408}"/>
              </a:ext>
            </a:extLst>
          </p:cNvPr>
          <p:cNvSpPr/>
          <p:nvPr/>
        </p:nvSpPr>
        <p:spPr>
          <a:xfrm>
            <a:off x="8648241" y="3580482"/>
            <a:ext cx="1652531" cy="418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Delta Tables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18982C-DCDD-7633-D5B6-F48451DF1AD2}"/>
              </a:ext>
            </a:extLst>
          </p:cNvPr>
          <p:cNvSpPr/>
          <p:nvPr/>
        </p:nvSpPr>
        <p:spPr>
          <a:xfrm>
            <a:off x="7766891" y="2727050"/>
            <a:ext cx="1432194" cy="291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 Bricks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792" y="467783"/>
            <a:ext cx="9822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Slowly Changing Dimension (SCD2)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707832"/>
            <a:ext cx="30480" cy="5862876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10087" y="194774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45F03F-3DE8-318A-EB39-934F89F104F4}"/>
              </a:ext>
            </a:extLst>
          </p:cNvPr>
          <p:cNvGrpSpPr/>
          <p:nvPr/>
        </p:nvGrpSpPr>
        <p:grpSpPr>
          <a:xfrm>
            <a:off x="7060049" y="1663764"/>
            <a:ext cx="510302" cy="511865"/>
            <a:chOff x="7060049" y="1663764"/>
            <a:chExt cx="510302" cy="511865"/>
          </a:xfrm>
        </p:grpSpPr>
        <p:sp>
          <p:nvSpPr>
            <p:cNvPr id="5" name="Shape 3"/>
            <p:cNvSpPr/>
            <p:nvPr/>
          </p:nvSpPr>
          <p:spPr>
            <a:xfrm>
              <a:off x="7060049" y="1663764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" name="Text 4"/>
            <p:cNvSpPr/>
            <p:nvPr/>
          </p:nvSpPr>
          <p:spPr>
            <a:xfrm>
              <a:off x="7145119" y="1750338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28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2918103" y="1785699"/>
            <a:ext cx="32630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SCD Type 2 Application</a:t>
            </a:r>
            <a:endParaRPr lang="en-US" sz="3200" u="sng" dirty="0"/>
          </a:p>
        </p:txBody>
      </p:sp>
      <p:sp>
        <p:nvSpPr>
          <p:cNvPr id="8" name="Text 6"/>
          <p:cNvSpPr/>
          <p:nvPr/>
        </p:nvSpPr>
        <p:spPr>
          <a:xfrm>
            <a:off x="793790" y="2276118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SCD Type 2 is applied in </a:t>
            </a:r>
            <a:r>
              <a:rPr lang="en-US" sz="2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Confz_zone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 track historical changes.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539871" y="312133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AA9C1C-E720-4AC2-CB95-6B8BB2E4B9B1}"/>
              </a:ext>
            </a:extLst>
          </p:cNvPr>
          <p:cNvGrpSpPr/>
          <p:nvPr/>
        </p:nvGrpSpPr>
        <p:grpSpPr>
          <a:xfrm>
            <a:off x="7060049" y="2881428"/>
            <a:ext cx="510302" cy="555932"/>
            <a:chOff x="7060049" y="3068717"/>
            <a:chExt cx="510302" cy="555932"/>
          </a:xfrm>
        </p:grpSpPr>
        <p:sp>
          <p:nvSpPr>
            <p:cNvPr id="10" name="Shape 8"/>
            <p:cNvSpPr/>
            <p:nvPr/>
          </p:nvSpPr>
          <p:spPr>
            <a:xfrm>
              <a:off x="7060049" y="3068717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Text 9"/>
            <p:cNvSpPr/>
            <p:nvPr/>
          </p:nvSpPr>
          <p:spPr>
            <a:xfrm>
              <a:off x="7145119" y="3199358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28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8449270" y="2611984"/>
            <a:ext cx="3565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Handling Record Changes</a:t>
            </a:r>
            <a:endParaRPr lang="en-US" sz="3200" u="sng" dirty="0"/>
          </a:p>
        </p:txBody>
      </p:sp>
      <p:sp>
        <p:nvSpPr>
          <p:cNvPr id="13" name="Text 11"/>
          <p:cNvSpPr/>
          <p:nvPr/>
        </p:nvSpPr>
        <p:spPr>
          <a:xfrm>
            <a:off x="8449270" y="3102402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an existing employee record changes (say, training status or designation), we don’t overwrite—it instead marks the old row as inactive.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10087" y="448163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7BC2A46-C89D-3226-5EF0-C75F0C64E187}"/>
              </a:ext>
            </a:extLst>
          </p:cNvPr>
          <p:cNvGrpSpPr/>
          <p:nvPr/>
        </p:nvGrpSpPr>
        <p:grpSpPr>
          <a:xfrm>
            <a:off x="7060049" y="4241721"/>
            <a:ext cx="510302" cy="544915"/>
            <a:chOff x="7060049" y="4241721"/>
            <a:chExt cx="510302" cy="544915"/>
          </a:xfrm>
        </p:grpSpPr>
        <p:sp>
          <p:nvSpPr>
            <p:cNvPr id="15" name="Shape 13"/>
            <p:cNvSpPr/>
            <p:nvPr/>
          </p:nvSpPr>
          <p:spPr>
            <a:xfrm>
              <a:off x="7060049" y="4241721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Text 14"/>
            <p:cNvSpPr/>
            <p:nvPr/>
          </p:nvSpPr>
          <p:spPr>
            <a:xfrm>
              <a:off x="7145119" y="4361345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28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345894" y="43195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Checksum Logic </a:t>
            </a:r>
            <a:endParaRPr lang="en-US" sz="3200" u="sng" dirty="0"/>
          </a:p>
        </p:txBody>
      </p:sp>
      <p:sp>
        <p:nvSpPr>
          <p:cNvPr id="18" name="Text 16"/>
          <p:cNvSpPr/>
          <p:nvPr/>
        </p:nvSpPr>
        <p:spPr>
          <a:xfrm>
            <a:off x="793790" y="4810006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checksum differs → update curr_ind = 'N' and end_date = today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3790" y="5671899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Insert new row → with curr_ind = 'Y', start_date = today, end_date = 9999-12-31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539871" y="578643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35455"/>
          </a:solidFill>
          <a:ln/>
        </p:spPr>
        <p:txBody>
          <a:bodyPr/>
          <a:lstStyle/>
          <a:p>
            <a:endParaRPr lang="en-US" sz="20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9E10F4-F0B6-6A7D-8D31-8F5500A0624D}"/>
              </a:ext>
            </a:extLst>
          </p:cNvPr>
          <p:cNvGrpSpPr/>
          <p:nvPr/>
        </p:nvGrpSpPr>
        <p:grpSpPr>
          <a:xfrm>
            <a:off x="7060049" y="5524493"/>
            <a:ext cx="510302" cy="566949"/>
            <a:chOff x="7060049" y="5524493"/>
            <a:chExt cx="510302" cy="566949"/>
          </a:xfrm>
        </p:grpSpPr>
        <p:sp>
          <p:nvSpPr>
            <p:cNvPr id="21" name="Shape 19"/>
            <p:cNvSpPr/>
            <p:nvPr/>
          </p:nvSpPr>
          <p:spPr>
            <a:xfrm>
              <a:off x="7060049" y="552449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3A3B3C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20"/>
            <p:cNvSpPr/>
            <p:nvPr/>
          </p:nvSpPr>
          <p:spPr>
            <a:xfrm>
              <a:off x="7145119" y="5666151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800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28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8449270" y="5494734"/>
            <a:ext cx="38008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u="sng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Full History &amp; Current State</a:t>
            </a:r>
            <a:endParaRPr lang="en-US" sz="3200" u="sng" dirty="0"/>
          </a:p>
        </p:txBody>
      </p:sp>
      <p:sp>
        <p:nvSpPr>
          <p:cNvPr id="24" name="Text 22"/>
          <p:cNvSpPr/>
          <p:nvPr/>
        </p:nvSpPr>
        <p:spPr>
          <a:xfrm>
            <a:off x="8449270" y="5985153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gives full history of changes while allowing easy “current state” filtering.</a:t>
            </a:r>
            <a:endParaRPr lang="en-US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DF8DD2-99A0-E09B-BCCD-1665A38E2D5A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832" y="105949"/>
            <a:ext cx="70276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Sample Data Screenshots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5090441" y="4631141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042336" y="5205243"/>
            <a:ext cx="136088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0C1EC-EF31-EAEE-B505-2F3210E02419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1948E9C-BE98-7778-B078-C1B641293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39262"/>
              </p:ext>
            </p:extLst>
          </p:nvPr>
        </p:nvGraphicFramePr>
        <p:xfrm>
          <a:off x="275422" y="814728"/>
          <a:ext cx="14002438" cy="7301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01219">
                  <a:extLst>
                    <a:ext uri="{9D8B030D-6E8A-4147-A177-3AD203B41FA5}">
                      <a16:colId xmlns:a16="http://schemas.microsoft.com/office/drawing/2014/main" val="2926554059"/>
                    </a:ext>
                  </a:extLst>
                </a:gridCol>
                <a:gridCol w="7001219">
                  <a:extLst>
                    <a:ext uri="{9D8B030D-6E8A-4147-A177-3AD203B41FA5}">
                      <a16:colId xmlns:a16="http://schemas.microsoft.com/office/drawing/2014/main" val="2613862871"/>
                    </a:ext>
                  </a:extLst>
                </a:gridCol>
              </a:tblGrid>
              <a:tr h="378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Rawz.Employee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Full original columns from CSV with load key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Work.Employee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Cleaned &amp; validated columns + checksum + surrogate key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164041"/>
                  </a:ext>
                </a:extLst>
              </a:tr>
              <a:tr h="3518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Confz.Employee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SCD2 fields added current indicator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FCBBF"/>
                          </a:solidFill>
                        </a:rPr>
                        <a:t>Pubz.Result</a:t>
                      </a:r>
                      <a:endParaRPr lang="en-US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FCBBF"/>
                          </a:solidFill>
                        </a:rPr>
                        <a:t>Final table with joined tables with total training hours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08709"/>
                  </a:ext>
                </a:extLst>
              </a:tr>
            </a:tbl>
          </a:graphicData>
        </a:graphic>
      </p:graphicFrame>
      <p:pic>
        <p:nvPicPr>
          <p:cNvPr id="21" name="Picture 20" descr="A screenshot of a computer">
            <a:extLst>
              <a:ext uri="{FF2B5EF4-FFF2-40B4-BE49-F238E27FC236}">
                <a16:creationId xmlns:a16="http://schemas.microsoft.com/office/drawing/2014/main" id="{FEFC8D07-3070-DECC-F945-D9870B3E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21" y="1594311"/>
            <a:ext cx="6638385" cy="2745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BDA641-537B-DC52-5A65-A6C67F75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021" y="1587717"/>
            <a:ext cx="7013014" cy="2745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983F5E-B332-FFF2-C6CC-813C8BDC02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2003" y="5550079"/>
            <a:ext cx="6792675" cy="2393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D485A7-9E35-11FF-9FD3-AE6A45D721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69309" y="5463063"/>
            <a:ext cx="7081216" cy="2524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2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Testing Outputs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59950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Source → Target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1887" y="48933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4845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Row Count Testing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D44193-7F58-79A4-BCEE-DE199369C8FF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29DA7E-D547-8D89-AD03-E85FFA699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02" y="1375723"/>
            <a:ext cx="6094494" cy="2841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1CF3EB-6FA3-F682-07AE-7DB05C06D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340" y="1583626"/>
            <a:ext cx="7088717" cy="2451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7BFABC-29A8-DD5D-CFD4-329E680C53A2}"/>
              </a:ext>
            </a:extLst>
          </p:cNvPr>
          <p:cNvSpPr txBox="1"/>
          <p:nvPr/>
        </p:nvSpPr>
        <p:spPr>
          <a:xfrm>
            <a:off x="219671" y="5116054"/>
            <a:ext cx="6963327" cy="231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validated that rows from Work zone are correctly loaded into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zone using checksum comparison.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Query confirms all checksums from Work exist in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(LEFT ANTI JOIN returns zero).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4800EA-6774-9E59-0C83-5165DB03F497}"/>
              </a:ext>
            </a:extLst>
          </p:cNvPr>
          <p:cNvSpPr txBox="1"/>
          <p:nvPr/>
        </p:nvSpPr>
        <p:spPr>
          <a:xfrm>
            <a:off x="7589013" y="5116054"/>
            <a:ext cx="63693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Row counts of Work zone vs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current data are compared.</a:t>
            </a:r>
          </a:p>
          <a:p>
            <a:pPr marL="342900" indent="-342900" algn="l">
              <a:buSzPct val="100000"/>
              <a:buChar char="•"/>
            </a:pPr>
            <a:endParaRPr lang="en-US" sz="2400" dirty="0">
              <a:solidFill>
                <a:srgbClr val="CFCBBF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If counts mismatch, then it indicates a transformation or SCD2 logic gap.</a:t>
            </a:r>
            <a:endParaRPr lang="en-US" sz="24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48958C83-FBCB-EAC0-5204-23A45ED509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5785" y="8428643"/>
            <a:ext cx="5486400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74" y="41344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Workflow and Job Orchestration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954502" y="2317748"/>
            <a:ext cx="23987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1: Ingest Raw CSV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54502" y="2816739"/>
            <a:ext cx="239875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 raw CSV and audit log update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588538" y="4284099"/>
            <a:ext cx="23988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2: Work Zone Cleaning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588538" y="514599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 zone cleaning and deduplication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442912" y="2306731"/>
            <a:ext cx="23988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3: Confz Merge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442912" y="280572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Confz merge with SCD2 tracking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C0D050-6AC0-57A4-8569-A28A992807D3}"/>
              </a:ext>
            </a:extLst>
          </p:cNvPr>
          <p:cNvGrpSpPr/>
          <p:nvPr/>
        </p:nvGrpSpPr>
        <p:grpSpPr>
          <a:xfrm>
            <a:off x="793790" y="3546983"/>
            <a:ext cx="7556421" cy="600000"/>
            <a:chOff x="793790" y="3546983"/>
            <a:chExt cx="7556421" cy="600000"/>
          </a:xfrm>
        </p:grpSpPr>
        <p:sp>
          <p:nvSpPr>
            <p:cNvPr id="4" name="Shape 1"/>
            <p:cNvSpPr/>
            <p:nvPr/>
          </p:nvSpPr>
          <p:spPr>
            <a:xfrm>
              <a:off x="793790" y="3802134"/>
              <a:ext cx="7556421" cy="30480"/>
            </a:xfrm>
            <a:prstGeom prst="roundRect">
              <a:avLst>
                <a:gd name="adj" fmla="val 111628"/>
              </a:avLst>
            </a:prstGeom>
            <a:solidFill>
              <a:srgbClr val="535455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5" name="Shape 2"/>
            <p:cNvSpPr/>
            <p:nvPr/>
          </p:nvSpPr>
          <p:spPr>
            <a:xfrm>
              <a:off x="1964769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6" name="Text 3"/>
            <p:cNvSpPr/>
            <p:nvPr/>
          </p:nvSpPr>
          <p:spPr>
            <a:xfrm>
              <a:off x="2049840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1</a:t>
              </a:r>
              <a:endParaRPr lang="en-US" sz="36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532823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0" name="Text 7"/>
            <p:cNvSpPr/>
            <p:nvPr/>
          </p:nvSpPr>
          <p:spPr>
            <a:xfrm>
              <a:off x="3617893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2</a:t>
              </a:r>
              <a:endParaRPr lang="en-US" sz="36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100757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" name="Text 11"/>
            <p:cNvSpPr/>
            <p:nvPr/>
          </p:nvSpPr>
          <p:spPr>
            <a:xfrm>
              <a:off x="5185827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3</a:t>
              </a:r>
              <a:endParaRPr lang="en-US" sz="36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6668810" y="3546983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CEC99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8" name="Text 15"/>
            <p:cNvSpPr/>
            <p:nvPr/>
          </p:nvSpPr>
          <p:spPr>
            <a:xfrm>
              <a:off x="6753880" y="3721692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3600" dirty="0">
                  <a:solidFill>
                    <a:srgbClr val="000000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4</a:t>
              </a:r>
              <a:endParaRPr lang="en-US" sz="3600" dirty="0"/>
            </a:p>
          </p:txBody>
        </p:sp>
      </p:grpSp>
      <p:sp>
        <p:nvSpPr>
          <p:cNvPr id="19" name="Text 16"/>
          <p:cNvSpPr/>
          <p:nvPr/>
        </p:nvSpPr>
        <p:spPr>
          <a:xfrm>
            <a:off x="5724525" y="4284099"/>
            <a:ext cx="23988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4: Final Reporting Layer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724525" y="5145992"/>
            <a:ext cx="239887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reporting layer (Pubz zone)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93250" y="6352179"/>
            <a:ext cx="8509227" cy="1596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Jobs were built using Databricks Workflows with clear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dependencies.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stage is logged and can be time-traveled using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Delta Lake features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7770-2721-E452-6F0C-BD6E4D3E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9C9BAC-380E-1B9B-BBED-EAE3A60E348E}"/>
              </a:ext>
            </a:extLst>
          </p:cNvPr>
          <p:cNvSpPr/>
          <p:nvPr/>
        </p:nvSpPr>
        <p:spPr>
          <a:xfrm>
            <a:off x="793790" y="372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Job Flow 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930E90-9849-3750-6A38-7C25851BB56D}"/>
              </a:ext>
            </a:extLst>
          </p:cNvPr>
          <p:cNvSpPr/>
          <p:nvPr/>
        </p:nvSpPr>
        <p:spPr>
          <a:xfrm>
            <a:off x="59950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DDL 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D386DC-67EE-6C4C-6D34-22BB2B5885D0}"/>
              </a:ext>
            </a:extLst>
          </p:cNvPr>
          <p:cNvSpPr/>
          <p:nvPr/>
        </p:nvSpPr>
        <p:spPr>
          <a:xfrm>
            <a:off x="7548457" y="4567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Data Ingestion 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10D3DC-0935-D19D-7C6A-8FA7174A5E75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F19D7-B0B5-4C5A-554F-1E5760608B95}"/>
              </a:ext>
            </a:extLst>
          </p:cNvPr>
          <p:cNvSpPr txBox="1"/>
          <p:nvPr/>
        </p:nvSpPr>
        <p:spPr>
          <a:xfrm>
            <a:off x="243314" y="5116054"/>
            <a:ext cx="6963327" cy="82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This Job Contains All the DDL commands of the table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10EC2-D5FC-120D-6A12-99BC0B38DAC6}"/>
              </a:ext>
            </a:extLst>
          </p:cNvPr>
          <p:cNvSpPr txBox="1"/>
          <p:nvPr/>
        </p:nvSpPr>
        <p:spPr>
          <a:xfrm>
            <a:off x="7589013" y="5116054"/>
            <a:ext cx="6369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In the job ingestion job, the data is ingested from DBFS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layer.</a:t>
            </a:r>
            <a:endParaRPr lang="en-US" sz="24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8A5A4F8-6ECD-3052-7029-A55D932FAD32}"/>
              </a:ext>
            </a:extLst>
          </p:cNvPr>
          <p:cNvSpPr/>
          <p:nvPr/>
        </p:nvSpPr>
        <p:spPr>
          <a:xfrm>
            <a:off x="599507" y="6493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Workflow layers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A6820-F7EF-29B5-CBAA-9FF03E4FECEA}"/>
              </a:ext>
            </a:extLst>
          </p:cNvPr>
          <p:cNvSpPr txBox="1"/>
          <p:nvPr/>
        </p:nvSpPr>
        <p:spPr>
          <a:xfrm>
            <a:off x="243314" y="7042030"/>
            <a:ext cx="6542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The data is their transformed from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to work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layers.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5655D26-771F-3A47-CCAD-A862390CED47}"/>
              </a:ext>
            </a:extLst>
          </p:cNvPr>
          <p:cNvSpPr/>
          <p:nvPr/>
        </p:nvSpPr>
        <p:spPr>
          <a:xfrm>
            <a:off x="7671393" y="6493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2E782"/>
                </a:solidFill>
                <a:latin typeface="Prata" pitchFamily="34" charset="0"/>
              </a:rPr>
              <a:t>Workflow layers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8882A-05BA-7E23-DA54-17D4CC8EFD7D}"/>
              </a:ext>
            </a:extLst>
          </p:cNvPr>
          <p:cNvSpPr txBox="1"/>
          <p:nvPr/>
        </p:nvSpPr>
        <p:spPr>
          <a:xfrm>
            <a:off x="7589013" y="7042030"/>
            <a:ext cx="6542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The data is their transformed from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rawz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to work to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</a:rPr>
              <a:t>confz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</a:rPr>
              <a:t> layers.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30F39D-15A9-597A-B3A5-62032CB031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60377" y="196728"/>
            <a:ext cx="9329860" cy="4133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868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47430" y="459546"/>
            <a:ext cx="75521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 Output in Pubz Zone</a:t>
            </a:r>
            <a:endParaRPr lang="en-US" sz="44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6A8492-D4CB-F02D-FF32-3314A43D7F96}"/>
              </a:ext>
            </a:extLst>
          </p:cNvPr>
          <p:cNvGrpSpPr/>
          <p:nvPr/>
        </p:nvGrpSpPr>
        <p:grpSpPr>
          <a:xfrm>
            <a:off x="6469665" y="1728061"/>
            <a:ext cx="680442" cy="707588"/>
            <a:chOff x="6280190" y="2097405"/>
            <a:chExt cx="680442" cy="707588"/>
          </a:xfrm>
        </p:grpSpPr>
        <p:sp>
          <p:nvSpPr>
            <p:cNvPr id="4" name="Shape 1"/>
            <p:cNvSpPr/>
            <p:nvPr/>
          </p:nvSpPr>
          <p:spPr>
            <a:xfrm>
              <a:off x="6314123" y="2097405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0190" y="2110978"/>
              <a:ext cx="680442" cy="680442"/>
            </a:xfrm>
            <a:prstGeom prst="rect">
              <a:avLst/>
            </a:prstGeom>
          </p:spPr>
        </p:pic>
      </p:grpSp>
      <p:sp>
        <p:nvSpPr>
          <p:cNvPr id="6" name="Text 2"/>
          <p:cNvSpPr/>
          <p:nvPr/>
        </p:nvSpPr>
        <p:spPr>
          <a:xfrm>
            <a:off x="7342988" y="1889034"/>
            <a:ext cx="27291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Employee Contact &amp; Department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342988" y="2750927"/>
            <a:ext cx="272915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Includes employee contact and department</a:t>
            </a:r>
            <a:endParaRPr lang="en-US" sz="2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E1BB67-C8B3-C36A-F59D-23A7CA024264}"/>
              </a:ext>
            </a:extLst>
          </p:cNvPr>
          <p:cNvGrpSpPr/>
          <p:nvPr/>
        </p:nvGrpSpPr>
        <p:grpSpPr>
          <a:xfrm>
            <a:off x="10102237" y="1728061"/>
            <a:ext cx="680442" cy="707588"/>
            <a:chOff x="10200084" y="2097405"/>
            <a:chExt cx="680442" cy="707588"/>
          </a:xfrm>
        </p:grpSpPr>
        <p:sp>
          <p:nvSpPr>
            <p:cNvPr id="8" name="Shape 4"/>
            <p:cNvSpPr/>
            <p:nvPr/>
          </p:nvSpPr>
          <p:spPr>
            <a:xfrm>
              <a:off x="10234017" y="2097405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0084" y="2110978"/>
              <a:ext cx="680442" cy="680442"/>
            </a:xfrm>
            <a:prstGeom prst="rect">
              <a:avLst/>
            </a:prstGeom>
          </p:spPr>
        </p:pic>
      </p:grpSp>
      <p:sp>
        <p:nvSpPr>
          <p:cNvPr id="10" name="Text 5"/>
          <p:cNvSpPr/>
          <p:nvPr/>
        </p:nvSpPr>
        <p:spPr>
          <a:xfrm>
            <a:off x="11009494" y="1889034"/>
            <a:ext cx="27292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Assigned Project &amp; Domain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1009494" y="2750927"/>
            <a:ext cx="27292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Assigned project and domain</a:t>
            </a:r>
            <a:endParaRPr lang="en-US" sz="2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FA655F-7750-614B-6268-ACD4257E7F43}"/>
              </a:ext>
            </a:extLst>
          </p:cNvPr>
          <p:cNvGrpSpPr/>
          <p:nvPr/>
        </p:nvGrpSpPr>
        <p:grpSpPr>
          <a:xfrm>
            <a:off x="6503598" y="3879495"/>
            <a:ext cx="680442" cy="707588"/>
            <a:chOff x="6280190" y="4180523"/>
            <a:chExt cx="680442" cy="707588"/>
          </a:xfrm>
        </p:grpSpPr>
        <p:sp>
          <p:nvSpPr>
            <p:cNvPr id="12" name="Shape 7"/>
            <p:cNvSpPr/>
            <p:nvPr/>
          </p:nvSpPr>
          <p:spPr>
            <a:xfrm>
              <a:off x="6314123" y="4180523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0190" y="4194096"/>
              <a:ext cx="680442" cy="680442"/>
            </a:xfrm>
            <a:prstGeom prst="rect">
              <a:avLst/>
            </a:prstGeom>
          </p:spPr>
        </p:pic>
      </p:grpSp>
      <p:sp>
        <p:nvSpPr>
          <p:cNvPr id="14" name="Text 8"/>
          <p:cNvSpPr/>
          <p:nvPr/>
        </p:nvSpPr>
        <p:spPr>
          <a:xfrm>
            <a:off x="7410854" y="3952331"/>
            <a:ext cx="2729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399837" y="4452323"/>
            <a:ext cx="272915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Payroll : base pay, bonus, total pay</a:t>
            </a:r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0A7AA7-D39D-6EBB-EC89-B7322B91F448}"/>
              </a:ext>
            </a:extLst>
          </p:cNvPr>
          <p:cNvGrpSpPr/>
          <p:nvPr/>
        </p:nvGrpSpPr>
        <p:grpSpPr>
          <a:xfrm>
            <a:off x="10204036" y="3879495"/>
            <a:ext cx="680442" cy="707588"/>
            <a:chOff x="10200084" y="4180523"/>
            <a:chExt cx="680442" cy="707588"/>
          </a:xfrm>
        </p:grpSpPr>
        <p:sp>
          <p:nvSpPr>
            <p:cNvPr id="16" name="Shape 10"/>
            <p:cNvSpPr/>
            <p:nvPr/>
          </p:nvSpPr>
          <p:spPr>
            <a:xfrm>
              <a:off x="10234017" y="4180523"/>
              <a:ext cx="612338" cy="707588"/>
            </a:xfrm>
            <a:prstGeom prst="roundRect">
              <a:avLst>
                <a:gd name="adj" fmla="val 8960"/>
              </a:avLst>
            </a:prstGeom>
            <a:solidFill>
              <a:srgbClr val="4D4D51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0084" y="4194096"/>
              <a:ext cx="680442" cy="680442"/>
            </a:xfrm>
            <a:prstGeom prst="rect">
              <a:avLst/>
            </a:prstGeom>
          </p:spPr>
        </p:pic>
      </p:grpSp>
      <p:sp>
        <p:nvSpPr>
          <p:cNvPr id="18" name="Text 11"/>
          <p:cNvSpPr/>
          <p:nvPr/>
        </p:nvSpPr>
        <p:spPr>
          <a:xfrm>
            <a:off x="11077360" y="3952331"/>
            <a:ext cx="27292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Training Hours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11140313" y="4440017"/>
            <a:ext cx="2729270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training hours summed across all training attended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952936-5965-CCA3-1A98-BD2B3A243854}"/>
              </a:ext>
            </a:extLst>
          </p:cNvPr>
          <p:cNvSpPr/>
          <p:nvPr/>
        </p:nvSpPr>
        <p:spPr>
          <a:xfrm>
            <a:off x="12858161" y="7767687"/>
            <a:ext cx="1668545" cy="362903"/>
          </a:xfrm>
          <a:prstGeom prst="rect">
            <a:avLst/>
          </a:prstGeom>
          <a:solidFill>
            <a:srgbClr val="1B1C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5D26A-A4CC-D94B-308D-187F00400E07}"/>
              </a:ext>
            </a:extLst>
          </p:cNvPr>
          <p:cNvSpPr txBox="1"/>
          <p:nvPr/>
        </p:nvSpPr>
        <p:spPr>
          <a:xfrm>
            <a:off x="6556378" y="5817779"/>
            <a:ext cx="8027654" cy="1553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table </a:t>
            </a:r>
            <a:r>
              <a:rPr lang="en-US" sz="2400" dirty="0" err="1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pubz.result</a:t>
            </a: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provides a one-glance view for decision makers.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This is the key outcome of the entire project—ready to be consumed for business insight and much more.</a:t>
            </a:r>
            <a:endParaRPr lang="en-US" sz="24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00B519C-5C6D-75EA-72AD-1ABD0155F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24" y="498751"/>
            <a:ext cx="5952653" cy="3479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938B250-11A7-0A75-53CA-C69FEB3BC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24" y="4233289"/>
            <a:ext cx="5952653" cy="3584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132" y="27547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364132" y="426793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appreciate your time and engagement today. I look forward joining the team in future.</a:t>
            </a:r>
            <a:endParaRPr lang="en-US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1101</Words>
  <Application>Microsoft Office PowerPoint</Application>
  <PresentationFormat>Custom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Raleway</vt:lpstr>
      <vt:lpstr>Cambria</vt:lpstr>
      <vt:lpstr>Prata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S, Bharathwaj</cp:lastModifiedBy>
  <cp:revision>43</cp:revision>
  <dcterms:created xsi:type="dcterms:W3CDTF">2025-06-09T14:56:13Z</dcterms:created>
  <dcterms:modified xsi:type="dcterms:W3CDTF">2025-06-16T06:25:05Z</dcterms:modified>
</cp:coreProperties>
</file>