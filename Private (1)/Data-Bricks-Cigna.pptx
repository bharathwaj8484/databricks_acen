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67" r:id="rId14"/>
    <p:sldId id="268" r:id="rId15"/>
  </p:sldIdLst>
  <p:sldSz cx="14630400" cy="8229600"/>
  <p:notesSz cx="8229600" cy="14630400"/>
  <p:embeddedFontLst>
    <p:embeddedFont>
      <p:font typeface="Cambria" panose="02040503050406030204" pitchFamily="18" charset="0"/>
      <p:regular r:id="rId17"/>
      <p:bold r:id="rId18"/>
      <p:italic r:id="rId19"/>
      <p:boldItalic r:id="rId20"/>
    </p:embeddedFont>
    <p:embeddedFont>
      <p:font typeface="Prata" panose="020B0604020202020204" charset="0"/>
      <p:regular r:id="rId21"/>
    </p:embeddedFont>
    <p:embeddedFont>
      <p:font typeface="Raleway" pitchFamily="2" charset="0"/>
      <p:regular r:id="rId22"/>
      <p:bold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1C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8" d="100"/>
          <a:sy n="58" d="100"/>
        </p:scale>
        <p:origin x="52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82097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6DAA9-8F43-B66C-994A-CE2C65CF9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2BCCEB-51B0-791C-5E2E-82B5DC3639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7D3FE9-8BAA-82A9-4F57-56D893315B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9886D-4E05-4FCD-880D-AA803A9841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4213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5090" y="249888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66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 Bricks - Cigna</a:t>
            </a:r>
            <a:endParaRPr lang="en-US" sz="6600" dirty="0"/>
          </a:p>
        </p:txBody>
      </p:sp>
      <p:sp>
        <p:nvSpPr>
          <p:cNvPr id="4" name="Text 1"/>
          <p:cNvSpPr/>
          <p:nvPr/>
        </p:nvSpPr>
        <p:spPr>
          <a:xfrm>
            <a:off x="375090" y="3547824"/>
            <a:ext cx="511837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48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Employee Information. 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375090" y="5317950"/>
            <a:ext cx="459345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6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By </a:t>
            </a:r>
            <a:r>
              <a:rPr lang="en-US" sz="3600" dirty="0">
                <a:solidFill>
                  <a:srgbClr val="F9D933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Bharathwaj K S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691097" y="0"/>
            <a:ext cx="4952676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378" y="43822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Project Description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321651" y="1690092"/>
            <a:ext cx="8500696" cy="5192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65760" indent="-342900" algn="l">
              <a:lnSpc>
                <a:spcPts val="2850"/>
              </a:lnSpc>
              <a:spcBef>
                <a:spcPts val="600"/>
              </a:spcBef>
              <a:buSzPct val="100000"/>
              <a:buChar char="•"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This project focuses on managing and transforming employee-related data for analytical and reporting purposes within the Databricks Lakehouse platform.</a:t>
            </a:r>
          </a:p>
          <a:p>
            <a:pPr marL="365760" indent="-342900">
              <a:lnSpc>
                <a:spcPts val="2850"/>
              </a:lnSpc>
              <a:spcBef>
                <a:spcPts val="600"/>
              </a:spcBef>
              <a:buSzPct val="100000"/>
              <a:buFontTx/>
              <a:buChar char="•"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 are ingesting raw employee information from multiple CSV sources into structured delta tables.</a:t>
            </a:r>
          </a:p>
          <a:p>
            <a:pPr marL="365760" indent="-342900">
              <a:lnSpc>
                <a:spcPts val="2850"/>
              </a:lnSpc>
              <a:spcBef>
                <a:spcPts val="600"/>
              </a:spcBef>
              <a:buSzPct val="100000"/>
              <a:buFontTx/>
              <a:buChar char="•"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pipeline is built to handle large datasets across multiple domains like Employee, Payroll, Projects, Trainings, and Departments</a:t>
            </a:r>
          </a:p>
          <a:p>
            <a:pPr marL="365760" indent="-342900">
              <a:lnSpc>
                <a:spcPts val="2850"/>
              </a:lnSpc>
              <a:spcBef>
                <a:spcPts val="600"/>
              </a:spcBef>
              <a:buSzPct val="100000"/>
              <a:buFontTx/>
              <a:buChar char="•"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goal is to automate the data flow through raw, cleaned, conformed, and publication zones with a robust and scalable design.</a:t>
            </a:r>
          </a:p>
          <a:p>
            <a:pPr marL="365760" indent="-342900">
              <a:lnSpc>
                <a:spcPts val="2850"/>
              </a:lnSpc>
              <a:spcBef>
                <a:spcPts val="600"/>
              </a:spcBef>
              <a:buSzPct val="100000"/>
              <a:buFontTx/>
              <a:buChar char="•"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Ultimately, this project delivers meaningful insights such as total training hours per employee, department alignment, payroll summary, and current project allocation.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93790" y="4648152"/>
            <a:ext cx="7556421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59778" y="5468482"/>
            <a:ext cx="7556421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93789" y="5958959"/>
            <a:ext cx="7556421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588633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793790" y="650438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6726" y="1794409"/>
            <a:ext cx="6980149" cy="449622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2352" y="59765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 Model</a:t>
            </a:r>
            <a:endParaRPr lang="en-US" sz="44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B56EC6-E1C6-F485-EC81-59647CFCB79D}"/>
              </a:ext>
            </a:extLst>
          </p:cNvPr>
          <p:cNvSpPr/>
          <p:nvPr/>
        </p:nvSpPr>
        <p:spPr>
          <a:xfrm>
            <a:off x="12858161" y="7767687"/>
            <a:ext cx="1668545" cy="362903"/>
          </a:xfrm>
          <a:prstGeom prst="rect">
            <a:avLst/>
          </a:prstGeom>
          <a:solidFill>
            <a:srgbClr val="1B1C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E43BB7-034A-9D62-35F6-6994F0FE4CDA}"/>
              </a:ext>
            </a:extLst>
          </p:cNvPr>
          <p:cNvSpPr txBox="1"/>
          <p:nvPr/>
        </p:nvSpPr>
        <p:spPr>
          <a:xfrm>
            <a:off x="7703216" y="867756"/>
            <a:ext cx="6927184" cy="68788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100000"/>
            </a:pPr>
            <a:r>
              <a:rPr lang="en-US" sz="320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Five Core Entities</a:t>
            </a:r>
            <a:endParaRPr lang="en-US" sz="3200" dirty="0"/>
          </a:p>
          <a:p>
            <a:pPr>
              <a:buSzPct val="100000"/>
            </a:pPr>
            <a:endParaRPr lang="en-US" sz="3200" b="1" dirty="0">
              <a:solidFill>
                <a:srgbClr val="CFCBBF"/>
              </a:solidFill>
              <a:latin typeface="Raleway" pitchFamily="34" charset="0"/>
              <a:ea typeface="Raleway" pitchFamily="34" charset="-122"/>
              <a:cs typeface="Raleway" pitchFamily="34" charset="-120"/>
            </a:endParaRPr>
          </a:p>
          <a:p>
            <a:pPr marL="342900" indent="-342900" algn="l">
              <a:spcBef>
                <a:spcPts val="600"/>
              </a:spcBef>
              <a:buSzPct val="100000"/>
              <a:buFont typeface="+mj-lt"/>
              <a:buAutoNum type="arabicPeriod"/>
            </a:pPr>
            <a:r>
              <a:rPr lang="en-US" sz="320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Employee</a:t>
            </a:r>
            <a:r>
              <a:rPr lang="en-US" sz="32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: personal info, contact, skills, FK links</a:t>
            </a:r>
          </a:p>
          <a:p>
            <a:pPr marL="342900" indent="-342900">
              <a:spcBef>
                <a:spcPts val="600"/>
              </a:spcBef>
              <a:buSzPct val="100000"/>
              <a:buFont typeface="+mj-lt"/>
              <a:buAutoNum type="arabicPeriod"/>
            </a:pPr>
            <a:r>
              <a:rPr lang="en-US" sz="320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Department</a:t>
            </a:r>
            <a:r>
              <a:rPr lang="en-US" sz="32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: department name, location, manager</a:t>
            </a:r>
          </a:p>
          <a:p>
            <a:pPr marL="342900" indent="-342900">
              <a:spcBef>
                <a:spcPts val="600"/>
              </a:spcBef>
              <a:buSzPct val="100000"/>
              <a:buFont typeface="+mj-lt"/>
              <a:buAutoNum type="arabicPeriod"/>
            </a:pPr>
            <a:r>
              <a:rPr lang="en-US" sz="320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</a:t>
            </a:r>
            <a:r>
              <a:rPr lang="en-US" sz="32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: project metadata, domain, manager</a:t>
            </a:r>
          </a:p>
          <a:p>
            <a:pPr marL="342900" indent="-342900">
              <a:spcBef>
                <a:spcPts val="600"/>
              </a:spcBef>
              <a:buSzPct val="100000"/>
              <a:buFont typeface="+mj-lt"/>
              <a:buAutoNum type="arabicPeriod"/>
            </a:pPr>
            <a:r>
              <a:rPr lang="en-US" sz="320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Training</a:t>
            </a:r>
            <a:r>
              <a:rPr lang="en-US" sz="32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: courses attended, dates, duration</a:t>
            </a:r>
          </a:p>
          <a:p>
            <a:pPr marL="342900" indent="-342900">
              <a:spcBef>
                <a:spcPts val="600"/>
              </a:spcBef>
              <a:buSzPct val="100000"/>
              <a:buFont typeface="+mj-lt"/>
              <a:buAutoNum type="arabicPeriod"/>
            </a:pPr>
            <a:r>
              <a:rPr lang="en-US" sz="320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Payroll</a:t>
            </a:r>
            <a:r>
              <a:rPr lang="en-US" sz="32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: pay details, overtime, bonuses</a:t>
            </a:r>
            <a:endParaRPr lang="en-US" sz="3200" dirty="0"/>
          </a:p>
          <a:p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1419" y="443805"/>
            <a:ext cx="584215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Business Justification</a:t>
            </a:r>
            <a:endParaRPr lang="en-US" sz="445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27EDECD-630E-A2BB-FD2F-919DF5C4C23B}"/>
              </a:ext>
            </a:extLst>
          </p:cNvPr>
          <p:cNvGrpSpPr/>
          <p:nvPr/>
        </p:nvGrpSpPr>
        <p:grpSpPr>
          <a:xfrm>
            <a:off x="551419" y="1643796"/>
            <a:ext cx="510302" cy="510302"/>
            <a:chOff x="793790" y="2417445"/>
            <a:chExt cx="510302" cy="510302"/>
          </a:xfrm>
        </p:grpSpPr>
        <p:sp>
          <p:nvSpPr>
            <p:cNvPr id="3" name="Shape 1"/>
            <p:cNvSpPr/>
            <p:nvPr/>
          </p:nvSpPr>
          <p:spPr>
            <a:xfrm>
              <a:off x="793790" y="2417445"/>
              <a:ext cx="510302" cy="510302"/>
            </a:xfrm>
            <a:prstGeom prst="roundRect">
              <a:avLst>
                <a:gd name="adj" fmla="val 6667"/>
              </a:avLst>
            </a:prstGeom>
            <a:solidFill>
              <a:srgbClr val="3A3B3C"/>
            </a:solidFill>
            <a:ln/>
          </p:spPr>
          <p:txBody>
            <a:bodyPr/>
            <a:lstStyle/>
            <a:p>
              <a:endParaRPr lang="en-US" sz="2800"/>
            </a:p>
          </p:txBody>
        </p:sp>
        <p:pic>
          <p:nvPicPr>
            <p:cNvPr id="4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8860" y="2459950"/>
              <a:ext cx="340162" cy="425291"/>
            </a:xfrm>
            <a:prstGeom prst="rect">
              <a:avLst/>
            </a:prstGeom>
          </p:spPr>
        </p:pic>
      </p:grpSp>
      <p:sp>
        <p:nvSpPr>
          <p:cNvPr id="5" name="Text 2"/>
          <p:cNvSpPr/>
          <p:nvPr/>
        </p:nvSpPr>
        <p:spPr>
          <a:xfrm>
            <a:off x="1288535" y="1721663"/>
            <a:ext cx="342149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Enhanced Workforce Analysis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71412" y="2854782"/>
            <a:ext cx="3728947" cy="1161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This project enables business users and HR managers to analyze detailed workforce information in a clean and ready-to-consume format.</a:t>
            </a:r>
            <a:endParaRPr lang="en-US" sz="2400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BBCCE25-47B2-92D4-79BE-1FBD8CF27D31}"/>
              </a:ext>
            </a:extLst>
          </p:cNvPr>
          <p:cNvGrpSpPr/>
          <p:nvPr/>
        </p:nvGrpSpPr>
        <p:grpSpPr>
          <a:xfrm>
            <a:off x="4810602" y="1689821"/>
            <a:ext cx="510302" cy="510302"/>
            <a:chOff x="5235893" y="2417445"/>
            <a:chExt cx="510302" cy="510302"/>
          </a:xfrm>
        </p:grpSpPr>
        <p:sp>
          <p:nvSpPr>
            <p:cNvPr id="7" name="Shape 4"/>
            <p:cNvSpPr/>
            <p:nvPr/>
          </p:nvSpPr>
          <p:spPr>
            <a:xfrm>
              <a:off x="5235893" y="2417445"/>
              <a:ext cx="510302" cy="510302"/>
            </a:xfrm>
            <a:prstGeom prst="roundRect">
              <a:avLst>
                <a:gd name="adj" fmla="val 6667"/>
              </a:avLst>
            </a:prstGeom>
            <a:solidFill>
              <a:srgbClr val="3A3B3C"/>
            </a:solidFill>
            <a:ln/>
          </p:spPr>
          <p:txBody>
            <a:bodyPr/>
            <a:lstStyle/>
            <a:p>
              <a:endParaRPr lang="en-US" sz="2800"/>
            </a:p>
          </p:txBody>
        </p:sp>
        <p:pic>
          <p:nvPicPr>
            <p:cNvPr id="8" name="Image 1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20963" y="2459950"/>
              <a:ext cx="340162" cy="425291"/>
            </a:xfrm>
            <a:prstGeom prst="rect">
              <a:avLst/>
            </a:prstGeom>
          </p:spPr>
        </p:pic>
      </p:grpSp>
      <p:sp>
        <p:nvSpPr>
          <p:cNvPr id="9" name="Text 5"/>
          <p:cNvSpPr/>
          <p:nvPr/>
        </p:nvSpPr>
        <p:spPr>
          <a:xfrm>
            <a:off x="5547717" y="1767688"/>
            <a:ext cx="342149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Specific Query Resolution</a:t>
            </a:r>
            <a:endParaRPr lang="en-US" sz="3200" dirty="0"/>
          </a:p>
        </p:txBody>
      </p:sp>
      <p:sp>
        <p:nvSpPr>
          <p:cNvPr id="10" name="Text 6"/>
          <p:cNvSpPr/>
          <p:nvPr/>
        </p:nvSpPr>
        <p:spPr>
          <a:xfrm>
            <a:off x="4810602" y="2593817"/>
            <a:ext cx="4158614" cy="1741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For instance, a delivery manager can now answer questions like, “Which employee completed a specific training and also worked on Project X?” — without needing to manually combine datasets or rely on outdated records.</a:t>
            </a:r>
            <a:endParaRPr lang="en-US" sz="240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172D59B-8411-0E33-6F31-BE6B1E32F00B}"/>
              </a:ext>
            </a:extLst>
          </p:cNvPr>
          <p:cNvGrpSpPr/>
          <p:nvPr/>
        </p:nvGrpSpPr>
        <p:grpSpPr>
          <a:xfrm>
            <a:off x="9196029" y="1693270"/>
            <a:ext cx="510302" cy="510302"/>
            <a:chOff x="9677995" y="2417445"/>
            <a:chExt cx="510302" cy="510302"/>
          </a:xfrm>
        </p:grpSpPr>
        <p:sp>
          <p:nvSpPr>
            <p:cNvPr id="11" name="Shape 7"/>
            <p:cNvSpPr/>
            <p:nvPr/>
          </p:nvSpPr>
          <p:spPr>
            <a:xfrm>
              <a:off x="9677995" y="2417445"/>
              <a:ext cx="510302" cy="510302"/>
            </a:xfrm>
            <a:prstGeom prst="roundRect">
              <a:avLst>
                <a:gd name="adj" fmla="val 6667"/>
              </a:avLst>
            </a:prstGeom>
            <a:solidFill>
              <a:srgbClr val="3A3B3C"/>
            </a:solidFill>
            <a:ln/>
          </p:spPr>
          <p:txBody>
            <a:bodyPr/>
            <a:lstStyle/>
            <a:p>
              <a:endParaRPr lang="en-US" sz="2800"/>
            </a:p>
          </p:txBody>
        </p:sp>
        <p:pic>
          <p:nvPicPr>
            <p:cNvPr id="12" name="Image 2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763065" y="2459950"/>
              <a:ext cx="340162" cy="425291"/>
            </a:xfrm>
            <a:prstGeom prst="rect">
              <a:avLst/>
            </a:prstGeom>
          </p:spPr>
        </p:pic>
      </p:grpSp>
      <p:sp>
        <p:nvSpPr>
          <p:cNvPr id="13" name="Text 8"/>
          <p:cNvSpPr/>
          <p:nvPr/>
        </p:nvSpPr>
        <p:spPr>
          <a:xfrm>
            <a:off x="9900093" y="1828251"/>
            <a:ext cx="31930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Reduced Manual Effort</a:t>
            </a:r>
            <a:endParaRPr lang="en-US" sz="3200" dirty="0"/>
          </a:p>
        </p:txBody>
      </p:sp>
      <p:sp>
        <p:nvSpPr>
          <p:cNvPr id="14" name="Text 9"/>
          <p:cNvSpPr/>
          <p:nvPr/>
        </p:nvSpPr>
        <p:spPr>
          <a:xfrm>
            <a:off x="9933145" y="2519465"/>
            <a:ext cx="4377766" cy="870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It reduces the manual effort for reporting by transforming semi-structured data into governed, historical views.</a:t>
            </a:r>
            <a:endParaRPr lang="en-US" sz="240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6D9ACD1-98B0-1A32-C527-1116FFBB5CED}"/>
              </a:ext>
            </a:extLst>
          </p:cNvPr>
          <p:cNvGrpSpPr/>
          <p:nvPr/>
        </p:nvGrpSpPr>
        <p:grpSpPr>
          <a:xfrm>
            <a:off x="481906" y="5473863"/>
            <a:ext cx="510302" cy="510302"/>
            <a:chOff x="793790" y="5535335"/>
            <a:chExt cx="510302" cy="510302"/>
          </a:xfrm>
        </p:grpSpPr>
        <p:sp>
          <p:nvSpPr>
            <p:cNvPr id="15" name="Shape 10"/>
            <p:cNvSpPr/>
            <p:nvPr/>
          </p:nvSpPr>
          <p:spPr>
            <a:xfrm>
              <a:off x="793790" y="5535335"/>
              <a:ext cx="510302" cy="510302"/>
            </a:xfrm>
            <a:prstGeom prst="roundRect">
              <a:avLst>
                <a:gd name="adj" fmla="val 6667"/>
              </a:avLst>
            </a:prstGeom>
            <a:solidFill>
              <a:srgbClr val="3A3B3C"/>
            </a:solidFill>
            <a:ln/>
          </p:spPr>
          <p:txBody>
            <a:bodyPr/>
            <a:lstStyle/>
            <a:p>
              <a:endParaRPr lang="en-US" sz="2800"/>
            </a:p>
          </p:txBody>
        </p:sp>
        <p:pic>
          <p:nvPicPr>
            <p:cNvPr id="16" name="Image 3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8860" y="5577840"/>
              <a:ext cx="340162" cy="425291"/>
            </a:xfrm>
            <a:prstGeom prst="rect">
              <a:avLst/>
            </a:prstGeom>
          </p:spPr>
        </p:pic>
      </p:grpSp>
      <p:sp>
        <p:nvSpPr>
          <p:cNvPr id="17" name="Text 11"/>
          <p:cNvSpPr/>
          <p:nvPr/>
        </p:nvSpPr>
        <p:spPr>
          <a:xfrm>
            <a:off x="1219022" y="5551730"/>
            <a:ext cx="446031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Audit Readiness &amp; Transparency</a:t>
            </a:r>
            <a:endParaRPr lang="en-US" sz="3200" dirty="0"/>
          </a:p>
        </p:txBody>
      </p:sp>
      <p:sp>
        <p:nvSpPr>
          <p:cNvPr id="18" name="Text 12"/>
          <p:cNvSpPr/>
          <p:nvPr/>
        </p:nvSpPr>
        <p:spPr>
          <a:xfrm>
            <a:off x="551418" y="6284204"/>
            <a:ext cx="6763781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Also ensures audit readiness and transparency across employee lifecycle events like pay raises, reassignments, or certifications.</a:t>
            </a:r>
            <a:endParaRPr lang="en-US" sz="240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AF31E1F-BECC-B2A9-C619-3C3BB5C5802D}"/>
              </a:ext>
            </a:extLst>
          </p:cNvPr>
          <p:cNvGrpSpPr/>
          <p:nvPr/>
        </p:nvGrpSpPr>
        <p:grpSpPr>
          <a:xfrm>
            <a:off x="8062931" y="5473863"/>
            <a:ext cx="510302" cy="510302"/>
            <a:chOff x="7457003" y="5535335"/>
            <a:chExt cx="510302" cy="510302"/>
          </a:xfrm>
        </p:grpSpPr>
        <p:sp>
          <p:nvSpPr>
            <p:cNvPr id="19" name="Shape 13"/>
            <p:cNvSpPr/>
            <p:nvPr/>
          </p:nvSpPr>
          <p:spPr>
            <a:xfrm>
              <a:off x="7457003" y="5535335"/>
              <a:ext cx="510302" cy="510302"/>
            </a:xfrm>
            <a:prstGeom prst="roundRect">
              <a:avLst>
                <a:gd name="adj" fmla="val 6667"/>
              </a:avLst>
            </a:prstGeom>
            <a:solidFill>
              <a:srgbClr val="3A3B3C"/>
            </a:solidFill>
            <a:ln/>
          </p:spPr>
          <p:txBody>
            <a:bodyPr/>
            <a:lstStyle/>
            <a:p>
              <a:endParaRPr lang="en-US" sz="2800"/>
            </a:p>
          </p:txBody>
        </p:sp>
        <p:pic>
          <p:nvPicPr>
            <p:cNvPr id="20" name="Image 4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42074" y="5577840"/>
              <a:ext cx="340162" cy="425291"/>
            </a:xfrm>
            <a:prstGeom prst="rect">
              <a:avLst/>
            </a:prstGeom>
          </p:spPr>
        </p:pic>
      </p:grpSp>
      <p:sp>
        <p:nvSpPr>
          <p:cNvPr id="21" name="Text 14"/>
          <p:cNvSpPr/>
          <p:nvPr/>
        </p:nvSpPr>
        <p:spPr>
          <a:xfrm>
            <a:off x="8800047" y="5551730"/>
            <a:ext cx="376178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Scalable Data Management</a:t>
            </a:r>
            <a:endParaRPr lang="en-US" sz="3200" dirty="0"/>
          </a:p>
        </p:txBody>
      </p:sp>
      <p:sp>
        <p:nvSpPr>
          <p:cNvPr id="22" name="Text 15"/>
          <p:cNvSpPr/>
          <p:nvPr/>
        </p:nvSpPr>
        <p:spPr>
          <a:xfrm>
            <a:off x="8194119" y="6147963"/>
            <a:ext cx="5962556" cy="870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Since data is managed via Delta tables on Databricks, it supports ACID transactions, scalable queries, and time-travel to track historical values efficiently.</a:t>
            </a:r>
            <a:endParaRPr lang="en-US" sz="24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6DED5D8-C8EC-E08C-B8AA-1BD709413F98}"/>
              </a:ext>
            </a:extLst>
          </p:cNvPr>
          <p:cNvSpPr/>
          <p:nvPr/>
        </p:nvSpPr>
        <p:spPr>
          <a:xfrm>
            <a:off x="12858161" y="7767687"/>
            <a:ext cx="1668545" cy="362903"/>
          </a:xfrm>
          <a:prstGeom prst="rect">
            <a:avLst/>
          </a:prstGeom>
          <a:solidFill>
            <a:srgbClr val="1B1C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1907" y="459779"/>
            <a:ext cx="1180897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 Flow (Rawz → Work → Confz → Pubz)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260730" y="1838780"/>
            <a:ext cx="326078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3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Rawz Zone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32201" y="2329198"/>
            <a:ext cx="4483865" cy="1161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This is the initial landing zone for raw CSV files ingested through a custom Python utility. All files are appended with no transformation and an audit log is maintained.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9822448" y="1683207"/>
            <a:ext cx="326078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Work Zone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9826625" y="2161284"/>
            <a:ext cx="4755980" cy="1451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 this zone, raw data undergoes cleaning, standardization, and deduplication using deterministic checksum logic. It handles validations like proper date formats, padded IDs, and email/phone cleaning.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9822448" y="4604602"/>
            <a:ext cx="326078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Confz Zone</a:t>
            </a:r>
            <a:endParaRPr lang="en-US" sz="3200" dirty="0"/>
          </a:p>
        </p:txBody>
      </p:sp>
      <p:sp>
        <p:nvSpPr>
          <p:cNvPr id="12" name="Text 8"/>
          <p:cNvSpPr/>
          <p:nvPr/>
        </p:nvSpPr>
        <p:spPr>
          <a:xfrm>
            <a:off x="9831356" y="5095021"/>
            <a:ext cx="4484002" cy="1746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This layer applies Slowly Changing Dimension Type 2 (SCD2) logic. We manage full data history and track changes across attributes by marking old rows inactive (curr_ind = 'N') and new rows active (curr_ind = 'Y').</a:t>
            </a:r>
            <a:endParaRPr lang="en-US" sz="2400" dirty="0"/>
          </a:p>
        </p:txBody>
      </p:sp>
      <p:sp>
        <p:nvSpPr>
          <p:cNvPr id="15" name="Text 10"/>
          <p:cNvSpPr/>
          <p:nvPr/>
        </p:nvSpPr>
        <p:spPr>
          <a:xfrm>
            <a:off x="1260729" y="4562140"/>
            <a:ext cx="326078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3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Pubz Zone</a:t>
            </a:r>
            <a:endParaRPr lang="en-US" sz="3200" dirty="0"/>
          </a:p>
        </p:txBody>
      </p:sp>
      <p:sp>
        <p:nvSpPr>
          <p:cNvPr id="16" name="Text 11"/>
          <p:cNvSpPr/>
          <p:nvPr/>
        </p:nvSpPr>
        <p:spPr>
          <a:xfrm>
            <a:off x="132200" y="5034203"/>
            <a:ext cx="4483865" cy="1807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final reporting layer where consolidated results are published, including key metrics like total training hours, payroll details, and project participation—all in one unified view.</a:t>
            </a:r>
            <a:endParaRPr lang="en-US" sz="240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EA72CA5-E542-3DD8-B165-FE8EED53B3CA}"/>
              </a:ext>
            </a:extLst>
          </p:cNvPr>
          <p:cNvGrpSpPr/>
          <p:nvPr/>
        </p:nvGrpSpPr>
        <p:grpSpPr>
          <a:xfrm>
            <a:off x="4938858" y="2025196"/>
            <a:ext cx="4564975" cy="4564975"/>
            <a:chOff x="5032653" y="2413516"/>
            <a:chExt cx="4564975" cy="4564975"/>
          </a:xfrm>
        </p:grpSpPr>
        <p:pic>
          <p:nvPicPr>
            <p:cNvPr id="5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32653" y="2413516"/>
              <a:ext cx="4564975" cy="4564975"/>
            </a:xfrm>
            <a:prstGeom prst="rect">
              <a:avLst/>
            </a:prstGeom>
          </p:spPr>
        </p:pic>
        <p:sp>
          <p:nvSpPr>
            <p:cNvPr id="6" name="Text 3"/>
            <p:cNvSpPr/>
            <p:nvPr/>
          </p:nvSpPr>
          <p:spPr>
            <a:xfrm>
              <a:off x="6226731" y="3176588"/>
              <a:ext cx="339328" cy="42422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4250"/>
                </a:lnSpc>
                <a:buNone/>
              </a:pPr>
              <a:r>
                <a:rPr lang="en-US" sz="2650" dirty="0">
                  <a:solidFill>
                    <a:srgbClr val="000000"/>
                  </a:solidFill>
                  <a:latin typeface="Prata" pitchFamily="34" charset="0"/>
                  <a:ea typeface="Prata" pitchFamily="34" charset="-122"/>
                  <a:cs typeface="Prata" pitchFamily="34" charset="-120"/>
                </a:rPr>
                <a:t>1</a:t>
              </a:r>
              <a:endParaRPr lang="en-US" sz="2650" dirty="0"/>
            </a:p>
          </p:txBody>
        </p:sp>
        <p:pic>
          <p:nvPicPr>
            <p:cNvPr id="9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32653" y="2413516"/>
              <a:ext cx="4564975" cy="4564975"/>
            </a:xfrm>
            <a:prstGeom prst="rect">
              <a:avLst/>
            </a:prstGeom>
          </p:spPr>
        </p:pic>
        <p:sp>
          <p:nvSpPr>
            <p:cNvPr id="10" name="Text 6"/>
            <p:cNvSpPr/>
            <p:nvPr/>
          </p:nvSpPr>
          <p:spPr>
            <a:xfrm>
              <a:off x="8452604" y="3565088"/>
              <a:ext cx="339328" cy="42422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4250"/>
                </a:lnSpc>
                <a:buNone/>
              </a:pPr>
              <a:r>
                <a:rPr lang="en-US" sz="2650" dirty="0">
                  <a:solidFill>
                    <a:srgbClr val="000000"/>
                  </a:solidFill>
                  <a:latin typeface="Prata" pitchFamily="34" charset="0"/>
                  <a:ea typeface="Prata" pitchFamily="34" charset="-122"/>
                  <a:cs typeface="Prata" pitchFamily="34" charset="-120"/>
                </a:rPr>
                <a:t>2</a:t>
              </a:r>
              <a:endParaRPr lang="en-US" sz="2650" dirty="0"/>
            </a:p>
          </p:txBody>
        </p:sp>
        <p:pic>
          <p:nvPicPr>
            <p:cNvPr id="13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32653" y="2413516"/>
              <a:ext cx="4564975" cy="4564975"/>
            </a:xfrm>
            <a:prstGeom prst="rect">
              <a:avLst/>
            </a:prstGeom>
          </p:spPr>
        </p:pic>
        <p:sp>
          <p:nvSpPr>
            <p:cNvPr id="14" name="Text 9"/>
            <p:cNvSpPr/>
            <p:nvPr/>
          </p:nvSpPr>
          <p:spPr>
            <a:xfrm>
              <a:off x="8064103" y="5790962"/>
              <a:ext cx="339328" cy="42422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4250"/>
                </a:lnSpc>
                <a:buNone/>
              </a:pPr>
              <a:r>
                <a:rPr lang="en-US" sz="2650" dirty="0">
                  <a:solidFill>
                    <a:srgbClr val="000000"/>
                  </a:solidFill>
                  <a:latin typeface="Prata" pitchFamily="34" charset="0"/>
                  <a:ea typeface="Prata" pitchFamily="34" charset="-122"/>
                  <a:cs typeface="Prata" pitchFamily="34" charset="-120"/>
                </a:rPr>
                <a:t>3</a:t>
              </a:r>
              <a:endParaRPr lang="en-US" sz="2650" dirty="0"/>
            </a:p>
          </p:txBody>
        </p:sp>
        <p:pic>
          <p:nvPicPr>
            <p:cNvPr id="17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032653" y="2413516"/>
              <a:ext cx="4564975" cy="4564975"/>
            </a:xfrm>
            <a:prstGeom prst="rect">
              <a:avLst/>
            </a:prstGeom>
          </p:spPr>
        </p:pic>
        <p:sp>
          <p:nvSpPr>
            <p:cNvPr id="18" name="Text 12"/>
            <p:cNvSpPr/>
            <p:nvPr/>
          </p:nvSpPr>
          <p:spPr>
            <a:xfrm>
              <a:off x="5838230" y="5402461"/>
              <a:ext cx="339328" cy="42422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4250"/>
                </a:lnSpc>
                <a:buNone/>
              </a:pPr>
              <a:r>
                <a:rPr lang="en-US" sz="2650" dirty="0">
                  <a:solidFill>
                    <a:srgbClr val="000000"/>
                  </a:solidFill>
                  <a:latin typeface="Prata" pitchFamily="34" charset="0"/>
                  <a:ea typeface="Prata" pitchFamily="34" charset="-122"/>
                  <a:cs typeface="Prata" pitchFamily="34" charset="-120"/>
                </a:rPr>
                <a:t>4</a:t>
              </a:r>
              <a:endParaRPr lang="en-US" sz="2650" dirty="0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12700ABB-2EDF-637D-32BE-D0909E21AC4E}"/>
              </a:ext>
            </a:extLst>
          </p:cNvPr>
          <p:cNvSpPr/>
          <p:nvPr/>
        </p:nvSpPr>
        <p:spPr>
          <a:xfrm>
            <a:off x="12858161" y="7767687"/>
            <a:ext cx="1668545" cy="362903"/>
          </a:xfrm>
          <a:prstGeom prst="rect">
            <a:avLst/>
          </a:prstGeom>
          <a:solidFill>
            <a:srgbClr val="1B1C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12618" y="372723"/>
            <a:ext cx="663880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Key Concepts Explained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167158" y="1858023"/>
            <a:ext cx="3664863" cy="2873565"/>
          </a:xfrm>
          <a:prstGeom prst="roundRect">
            <a:avLst>
              <a:gd name="adj" fmla="val 1415"/>
            </a:avLst>
          </a:prstGeom>
          <a:solidFill>
            <a:srgbClr val="3A3B3C"/>
          </a:solidFill>
          <a:ln/>
        </p:spPr>
        <p:txBody>
          <a:bodyPr/>
          <a:lstStyle/>
          <a:p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93972" y="2084837"/>
            <a:ext cx="32112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00" dirty="0">
                <a:solidFill>
                  <a:srgbClr val="CFCBBF"/>
                </a:solidFill>
                <a:latin typeface="Cambria" panose="02040503050406030204" pitchFamily="18" charset="0"/>
                <a:ea typeface="Cambria" panose="02040503050406030204" pitchFamily="18" charset="0"/>
                <a:cs typeface="Raleway" pitchFamily="34" charset="-120"/>
              </a:rPr>
              <a:t>Audit Table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393972" y="2583828"/>
            <a:ext cx="3211235" cy="1451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dirty="0">
                <a:solidFill>
                  <a:srgbClr val="CFCBBF"/>
                </a:solidFill>
                <a:latin typeface="Cambria" panose="02040503050406030204" pitchFamily="18" charset="0"/>
                <a:ea typeface="Cambria" panose="02040503050406030204" pitchFamily="18" charset="0"/>
                <a:cs typeface="Raleway" pitchFamily="34" charset="-120"/>
              </a:rPr>
              <a:t>A centralized delta table in Rawz zone that tracks each ingested file. It logs the filename, load status, number of rows inserted, and the full path for traceability.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0765050" y="1687418"/>
            <a:ext cx="3664863" cy="2873565"/>
          </a:xfrm>
          <a:prstGeom prst="roundRect">
            <a:avLst>
              <a:gd name="adj" fmla="val 1415"/>
            </a:avLst>
          </a:prstGeom>
          <a:solidFill>
            <a:srgbClr val="3A3B3C"/>
          </a:solidFill>
          <a:ln/>
        </p:spPr>
        <p:txBody>
          <a:bodyPr/>
          <a:lstStyle/>
          <a:p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0991864" y="1914232"/>
            <a:ext cx="32112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00" dirty="0">
                <a:solidFill>
                  <a:srgbClr val="CFCBBF"/>
                </a:solidFill>
                <a:latin typeface="Cambria" panose="02040503050406030204" pitchFamily="18" charset="0"/>
                <a:ea typeface="Cambria" panose="02040503050406030204" pitchFamily="18" charset="0"/>
                <a:cs typeface="Raleway" pitchFamily="34" charset="-120"/>
              </a:rPr>
              <a:t>Surrogate Key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991864" y="2413223"/>
            <a:ext cx="3211235" cy="1451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dirty="0">
                <a:solidFill>
                  <a:srgbClr val="CFCBBF"/>
                </a:solidFill>
                <a:latin typeface="Cambria" panose="02040503050406030204" pitchFamily="18" charset="0"/>
                <a:ea typeface="Cambria" panose="02040503050406030204" pitchFamily="18" charset="0"/>
                <a:cs typeface="Raleway" pitchFamily="34" charset="-120"/>
              </a:rPr>
              <a:t>Automatically generated unique identifiers using uuid() in the Work zone tables (e.g., </a:t>
            </a:r>
            <a:r>
              <a:rPr lang="en-US" sz="2000" dirty="0" err="1">
                <a:solidFill>
                  <a:srgbClr val="CFCBBF"/>
                </a:solidFill>
                <a:latin typeface="Cambria" panose="02040503050406030204" pitchFamily="18" charset="0"/>
                <a:ea typeface="Cambria" panose="02040503050406030204" pitchFamily="18" charset="0"/>
                <a:cs typeface="Raleway" pitchFamily="34" charset="-120"/>
              </a:rPr>
              <a:t>Emp_Key</a:t>
            </a:r>
            <a:r>
              <a:rPr lang="en-US" sz="2000" dirty="0">
                <a:solidFill>
                  <a:srgbClr val="CFCBBF"/>
                </a:solidFill>
                <a:latin typeface="Cambria" panose="02040503050406030204" pitchFamily="18" charset="0"/>
                <a:ea typeface="Cambria" panose="02040503050406030204" pitchFamily="18" charset="0"/>
                <a:cs typeface="Raleway" pitchFamily="34" charset="-120"/>
              </a:rPr>
              <a:t>, etc.). These act as immutable primary keys for consistent SCD2 tracking.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468952" y="5382045"/>
            <a:ext cx="7783235" cy="2483159"/>
          </a:xfrm>
          <a:prstGeom prst="roundRect">
            <a:avLst>
              <a:gd name="adj" fmla="val 1866"/>
            </a:avLst>
          </a:prstGeom>
          <a:solidFill>
            <a:srgbClr val="3A3B3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1" name="Text 8"/>
          <p:cNvSpPr/>
          <p:nvPr/>
        </p:nvSpPr>
        <p:spPr>
          <a:xfrm>
            <a:off x="3922580" y="5742593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00" dirty="0">
                <a:solidFill>
                  <a:srgbClr val="CFCBBF"/>
                </a:solidFill>
                <a:latin typeface="Cambria" panose="02040503050406030204" pitchFamily="18" charset="0"/>
                <a:ea typeface="Cambria" panose="02040503050406030204" pitchFamily="18" charset="0"/>
                <a:cs typeface="Raleway" pitchFamily="34" charset="-120"/>
              </a:rPr>
              <a:t>Load Key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922580" y="6241584"/>
            <a:ext cx="7102793" cy="870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dirty="0">
                <a:solidFill>
                  <a:srgbClr val="CFCBBF"/>
                </a:solidFill>
                <a:latin typeface="Cambria" panose="02040503050406030204" pitchFamily="18" charset="0"/>
                <a:ea typeface="Cambria" panose="02040503050406030204" pitchFamily="18" charset="0"/>
                <a:cs typeface="Raleway" pitchFamily="34" charset="-120"/>
              </a:rPr>
              <a:t>Every load generates a unique load_key using a custom function. Format used is: LCKYYYYMMDDHHMMSSDDDD (e.g., LCK202506031015398377). This key helps trace which rows came from which file and timestamp.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9A5760-1FAB-2138-72B3-5388F132D06F}"/>
              </a:ext>
            </a:extLst>
          </p:cNvPr>
          <p:cNvSpPr/>
          <p:nvPr/>
        </p:nvSpPr>
        <p:spPr>
          <a:xfrm>
            <a:off x="12858161" y="7767687"/>
            <a:ext cx="1668545" cy="362903"/>
          </a:xfrm>
          <a:prstGeom prst="rect">
            <a:avLst/>
          </a:prstGeom>
          <a:solidFill>
            <a:srgbClr val="1B1C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A diagram of a machine&#10;&#10;AI-generated content may be incorrect.">
            <a:extLst>
              <a:ext uri="{FF2B5EF4-FFF2-40B4-BE49-F238E27FC236}">
                <a16:creationId xmlns:a16="http://schemas.microsoft.com/office/drawing/2014/main" id="{11BF4BC7-0648-D25D-E0D1-911026D73E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8853" y="1605975"/>
            <a:ext cx="6679365" cy="3428571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A0930FE-CA2D-12E7-E68C-2C468F5D8408}"/>
              </a:ext>
            </a:extLst>
          </p:cNvPr>
          <p:cNvSpPr/>
          <p:nvPr/>
        </p:nvSpPr>
        <p:spPr>
          <a:xfrm>
            <a:off x="8648241" y="3580482"/>
            <a:ext cx="1652531" cy="4186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Delta Tables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818982C-DCDD-7633-D5B6-F48451DF1AD2}"/>
              </a:ext>
            </a:extLst>
          </p:cNvPr>
          <p:cNvSpPr/>
          <p:nvPr/>
        </p:nvSpPr>
        <p:spPr>
          <a:xfrm>
            <a:off x="7755873" y="2638913"/>
            <a:ext cx="1531345" cy="4228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Data Bricks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1386" y="565282"/>
            <a:ext cx="1122164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 Preparation / Cleaning (Work Zone)</a:t>
            </a:r>
            <a:endParaRPr lang="en-US" sz="4450" dirty="0"/>
          </a:p>
        </p:txBody>
      </p:sp>
      <p:sp>
        <p:nvSpPr>
          <p:cNvPr id="6" name="Text 4"/>
          <p:cNvSpPr/>
          <p:nvPr/>
        </p:nvSpPr>
        <p:spPr>
          <a:xfrm>
            <a:off x="793790" y="451449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95669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39888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84108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6F088B-F91B-460D-6222-C97D9FA4121E}"/>
              </a:ext>
            </a:extLst>
          </p:cNvPr>
          <p:cNvSpPr/>
          <p:nvPr/>
        </p:nvSpPr>
        <p:spPr>
          <a:xfrm>
            <a:off x="12858161" y="7767687"/>
            <a:ext cx="1668545" cy="362903"/>
          </a:xfrm>
          <a:prstGeom prst="rect">
            <a:avLst/>
          </a:prstGeom>
          <a:solidFill>
            <a:srgbClr val="1B1C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BCE84C-94A7-B77E-3476-AA6E92B5DFB9}"/>
              </a:ext>
            </a:extLst>
          </p:cNvPr>
          <p:cNvSpPr txBox="1"/>
          <p:nvPr/>
        </p:nvSpPr>
        <p:spPr>
          <a:xfrm>
            <a:off x="103694" y="1674604"/>
            <a:ext cx="14526706" cy="6042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8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All leading/trailing spaces are trimmed across string columns like names and designations.</a:t>
            </a: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2800" dirty="0">
              <a:solidFill>
                <a:srgbClr val="CFCBBF"/>
              </a:solidFill>
              <a:latin typeface="Raleway" pitchFamily="34" charset="0"/>
              <a:ea typeface="Raleway" pitchFamily="34" charset="-122"/>
              <a:cs typeface="Raleway" pitchFamily="34" charset="-120"/>
            </a:endParaRPr>
          </a:p>
          <a:p>
            <a:pPr marL="342900" indent="-342900">
              <a:lnSpc>
                <a:spcPts val="2850"/>
              </a:lnSpc>
              <a:buSzPct val="100000"/>
              <a:buFontTx/>
              <a:buChar char="•"/>
            </a:pPr>
            <a:r>
              <a:rPr lang="en-US" sz="28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Middle spaces in names or descriptions are replaced with a single underscore for uniformity.</a:t>
            </a:r>
          </a:p>
          <a:p>
            <a:pPr marL="342900" indent="-342900">
              <a:lnSpc>
                <a:spcPts val="2850"/>
              </a:lnSpc>
              <a:buSzPct val="100000"/>
              <a:buFontTx/>
              <a:buChar char="•"/>
            </a:pPr>
            <a:endParaRPr lang="en-US" sz="2800" dirty="0">
              <a:solidFill>
                <a:srgbClr val="CFCBBF"/>
              </a:solidFill>
              <a:latin typeface="Raleway" pitchFamily="34" charset="0"/>
              <a:ea typeface="Raleway" pitchFamily="34" charset="-122"/>
              <a:cs typeface="Raleway" pitchFamily="34" charset="-120"/>
            </a:endParaRPr>
          </a:p>
          <a:p>
            <a:pPr marL="342900" indent="-342900">
              <a:lnSpc>
                <a:spcPts val="2850"/>
              </a:lnSpc>
              <a:buSzPct val="100000"/>
              <a:buFontTx/>
              <a:buChar char="•"/>
            </a:pPr>
            <a:r>
              <a:rPr lang="en-US" sz="28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All ID columns are padded to 8 digits using LPAD(...) so they're consistent across joins.</a:t>
            </a:r>
          </a:p>
          <a:p>
            <a:pPr marL="342900" indent="-342900">
              <a:lnSpc>
                <a:spcPts val="2850"/>
              </a:lnSpc>
              <a:buSzPct val="100000"/>
              <a:buFontTx/>
              <a:buChar char="•"/>
            </a:pPr>
            <a:endParaRPr lang="en-US" sz="2800" dirty="0">
              <a:solidFill>
                <a:srgbClr val="CFCBBF"/>
              </a:solidFill>
              <a:latin typeface="Raleway" pitchFamily="34" charset="0"/>
              <a:ea typeface="Raleway" pitchFamily="34" charset="-122"/>
              <a:cs typeface="Raleway" pitchFamily="34" charset="-120"/>
            </a:endParaRPr>
          </a:p>
          <a:p>
            <a:pPr marL="342900" indent="-342900">
              <a:lnSpc>
                <a:spcPts val="2850"/>
              </a:lnSpc>
              <a:buSzPct val="100000"/>
              <a:buFontTx/>
              <a:buChar char="•"/>
            </a:pPr>
            <a:r>
              <a:rPr lang="en-US" sz="28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Phone numbers are stripped of symbols like +, (), or - to keep only digits.</a:t>
            </a:r>
          </a:p>
          <a:p>
            <a:pPr marL="342900" indent="-342900">
              <a:lnSpc>
                <a:spcPts val="2850"/>
              </a:lnSpc>
              <a:buSzPct val="100000"/>
              <a:buFontTx/>
              <a:buChar char="•"/>
            </a:pPr>
            <a:endParaRPr lang="en-US" sz="2800" dirty="0">
              <a:solidFill>
                <a:srgbClr val="CFCBBF"/>
              </a:solidFill>
              <a:latin typeface="Raleway" pitchFamily="34" charset="0"/>
              <a:ea typeface="Raleway" pitchFamily="34" charset="-122"/>
              <a:cs typeface="Raleway" pitchFamily="34" charset="-120"/>
            </a:endParaRPr>
          </a:p>
          <a:p>
            <a:pPr marL="342900" indent="-342900">
              <a:lnSpc>
                <a:spcPts val="2850"/>
              </a:lnSpc>
              <a:buSzPct val="100000"/>
              <a:buFontTx/>
              <a:buChar char="•"/>
            </a:pPr>
            <a:r>
              <a:rPr lang="en-US" sz="28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Date fields are converted to a standard format YYYY-MM-DD regardless of input separator (/, .).</a:t>
            </a:r>
          </a:p>
          <a:p>
            <a:pPr marL="342900" indent="-342900">
              <a:lnSpc>
                <a:spcPts val="2850"/>
              </a:lnSpc>
              <a:buSzPct val="100000"/>
              <a:buFontTx/>
              <a:buChar char="•"/>
            </a:pPr>
            <a:endParaRPr lang="en-US" sz="2800" dirty="0"/>
          </a:p>
          <a:p>
            <a:pPr marL="342900" indent="-342900">
              <a:lnSpc>
                <a:spcPts val="2850"/>
              </a:lnSpc>
              <a:buSzPct val="100000"/>
              <a:buFontTx/>
              <a:buChar char="•"/>
            </a:pPr>
            <a:r>
              <a:rPr lang="en-US" sz="28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Invalid email addresses (those not ending in proper .com, </a:t>
            </a:r>
            <a:r>
              <a:rPr lang="en-US" sz="2800" dirty="0" err="1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.net</a:t>
            </a:r>
            <a:r>
              <a:rPr lang="en-US" sz="28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, .org) are filtered out.</a:t>
            </a:r>
          </a:p>
          <a:p>
            <a:pPr marL="342900" indent="-342900">
              <a:lnSpc>
                <a:spcPts val="2850"/>
              </a:lnSpc>
              <a:buSzPct val="100000"/>
              <a:buFontTx/>
              <a:buChar char="•"/>
            </a:pPr>
            <a:endParaRPr lang="en-US" sz="2800" dirty="0">
              <a:solidFill>
                <a:srgbClr val="CFCBBF"/>
              </a:solidFill>
              <a:latin typeface="Raleway" pitchFamily="34" charset="0"/>
              <a:ea typeface="Raleway" pitchFamily="34" charset="-122"/>
              <a:cs typeface="Raleway" pitchFamily="34" charset="-120"/>
            </a:endParaRPr>
          </a:p>
          <a:p>
            <a:pPr marL="342900" indent="-342900">
              <a:lnSpc>
                <a:spcPts val="2850"/>
              </a:lnSpc>
              <a:buSzPct val="100000"/>
              <a:buFontTx/>
              <a:buChar char="•"/>
            </a:pPr>
            <a:r>
              <a:rPr lang="en-US" sz="28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Checksum (SHA2 256-bit) is generated using cleaned columns to identify duplicates.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6792" y="467783"/>
            <a:ext cx="982289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Slowly Changing Dimension (SCD2)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299960" y="1707832"/>
            <a:ext cx="30480" cy="5862876"/>
          </a:xfrm>
          <a:prstGeom prst="roundRect">
            <a:avLst>
              <a:gd name="adj" fmla="val 111628"/>
            </a:avLst>
          </a:prstGeom>
          <a:solidFill>
            <a:srgbClr val="5354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10087" y="1947743"/>
            <a:ext cx="680442" cy="30480"/>
          </a:xfrm>
          <a:prstGeom prst="roundRect">
            <a:avLst>
              <a:gd name="adj" fmla="val 111628"/>
            </a:avLst>
          </a:prstGeom>
          <a:solidFill>
            <a:srgbClr val="535455"/>
          </a:solidFill>
          <a:ln/>
        </p:spPr>
        <p:txBody>
          <a:bodyPr/>
          <a:lstStyle/>
          <a:p>
            <a:endParaRPr lang="en-US" sz="200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345F03F-3DE8-318A-EB39-934F89F104F4}"/>
              </a:ext>
            </a:extLst>
          </p:cNvPr>
          <p:cNvGrpSpPr/>
          <p:nvPr/>
        </p:nvGrpSpPr>
        <p:grpSpPr>
          <a:xfrm>
            <a:off x="7060049" y="1663764"/>
            <a:ext cx="510302" cy="511865"/>
            <a:chOff x="7060049" y="1663764"/>
            <a:chExt cx="510302" cy="511865"/>
          </a:xfrm>
        </p:grpSpPr>
        <p:sp>
          <p:nvSpPr>
            <p:cNvPr id="5" name="Shape 3"/>
            <p:cNvSpPr/>
            <p:nvPr/>
          </p:nvSpPr>
          <p:spPr>
            <a:xfrm>
              <a:off x="7060049" y="1663764"/>
              <a:ext cx="510302" cy="510302"/>
            </a:xfrm>
            <a:prstGeom prst="roundRect">
              <a:avLst>
                <a:gd name="adj" fmla="val 6667"/>
              </a:avLst>
            </a:prstGeom>
            <a:solidFill>
              <a:srgbClr val="3A3B3C"/>
            </a:solidFill>
            <a:ln/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6" name="Text 4"/>
            <p:cNvSpPr/>
            <p:nvPr/>
          </p:nvSpPr>
          <p:spPr>
            <a:xfrm>
              <a:off x="7145119" y="1750338"/>
              <a:ext cx="340162" cy="4252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650"/>
                </a:lnSpc>
                <a:buNone/>
              </a:pPr>
              <a:r>
                <a:rPr lang="en-US" sz="2800" dirty="0">
                  <a:solidFill>
                    <a:srgbClr val="CFCBBF"/>
                  </a:solidFill>
                  <a:latin typeface="Prata" pitchFamily="34" charset="0"/>
                  <a:ea typeface="Prata" pitchFamily="34" charset="-122"/>
                  <a:cs typeface="Prata" pitchFamily="34" charset="-120"/>
                </a:rPr>
                <a:t>1</a:t>
              </a:r>
              <a:endParaRPr lang="en-US" sz="2800" dirty="0"/>
            </a:p>
          </p:txBody>
        </p:sp>
      </p:grpSp>
      <p:sp>
        <p:nvSpPr>
          <p:cNvPr id="7" name="Text 5"/>
          <p:cNvSpPr/>
          <p:nvPr/>
        </p:nvSpPr>
        <p:spPr>
          <a:xfrm>
            <a:off x="2918103" y="1785699"/>
            <a:ext cx="326302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3200" u="sng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SCD Type 2 Application</a:t>
            </a:r>
            <a:endParaRPr lang="en-US" sz="3200" u="sng" dirty="0"/>
          </a:p>
        </p:txBody>
      </p:sp>
      <p:sp>
        <p:nvSpPr>
          <p:cNvPr id="8" name="Text 6"/>
          <p:cNvSpPr/>
          <p:nvPr/>
        </p:nvSpPr>
        <p:spPr>
          <a:xfrm>
            <a:off x="793790" y="2276118"/>
            <a:ext cx="538734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SCD Type 2 is applied in </a:t>
            </a:r>
            <a:r>
              <a:rPr lang="en-US" sz="240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Confz_zone</a:t>
            </a: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to track historical changes.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539871" y="3121339"/>
            <a:ext cx="680442" cy="30480"/>
          </a:xfrm>
          <a:prstGeom prst="roundRect">
            <a:avLst>
              <a:gd name="adj" fmla="val 111628"/>
            </a:avLst>
          </a:prstGeom>
          <a:solidFill>
            <a:srgbClr val="535455"/>
          </a:solidFill>
          <a:ln/>
        </p:spPr>
        <p:txBody>
          <a:bodyPr/>
          <a:lstStyle/>
          <a:p>
            <a:endParaRPr lang="en-US" sz="200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BAA9C1C-E720-4AC2-CB95-6B8BB2E4B9B1}"/>
              </a:ext>
            </a:extLst>
          </p:cNvPr>
          <p:cNvGrpSpPr/>
          <p:nvPr/>
        </p:nvGrpSpPr>
        <p:grpSpPr>
          <a:xfrm>
            <a:off x="7060049" y="2881428"/>
            <a:ext cx="510302" cy="555932"/>
            <a:chOff x="7060049" y="3068717"/>
            <a:chExt cx="510302" cy="555932"/>
          </a:xfrm>
        </p:grpSpPr>
        <p:sp>
          <p:nvSpPr>
            <p:cNvPr id="10" name="Shape 8"/>
            <p:cNvSpPr/>
            <p:nvPr/>
          </p:nvSpPr>
          <p:spPr>
            <a:xfrm>
              <a:off x="7060049" y="3068717"/>
              <a:ext cx="510302" cy="510302"/>
            </a:xfrm>
            <a:prstGeom prst="roundRect">
              <a:avLst>
                <a:gd name="adj" fmla="val 6667"/>
              </a:avLst>
            </a:prstGeom>
            <a:solidFill>
              <a:srgbClr val="3A3B3C"/>
            </a:solidFill>
            <a:ln/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1" name="Text 9"/>
            <p:cNvSpPr/>
            <p:nvPr/>
          </p:nvSpPr>
          <p:spPr>
            <a:xfrm>
              <a:off x="7145119" y="3199358"/>
              <a:ext cx="340162" cy="4252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650"/>
                </a:lnSpc>
                <a:buNone/>
              </a:pPr>
              <a:r>
                <a:rPr lang="en-US" sz="2800" dirty="0">
                  <a:solidFill>
                    <a:srgbClr val="CFCBBF"/>
                  </a:solidFill>
                  <a:latin typeface="Prata" pitchFamily="34" charset="0"/>
                  <a:ea typeface="Prata" pitchFamily="34" charset="-122"/>
                  <a:cs typeface="Prata" pitchFamily="34" charset="-120"/>
                </a:rPr>
                <a:t>2</a:t>
              </a:r>
              <a:endParaRPr lang="en-US" sz="2800" dirty="0"/>
            </a:p>
          </p:txBody>
        </p:sp>
      </p:grpSp>
      <p:sp>
        <p:nvSpPr>
          <p:cNvPr id="12" name="Text 10"/>
          <p:cNvSpPr/>
          <p:nvPr/>
        </p:nvSpPr>
        <p:spPr>
          <a:xfrm>
            <a:off x="8449270" y="2611984"/>
            <a:ext cx="356568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u="sng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Handling Record Changes</a:t>
            </a:r>
            <a:endParaRPr lang="en-US" sz="3200" u="sng" dirty="0"/>
          </a:p>
        </p:txBody>
      </p:sp>
      <p:sp>
        <p:nvSpPr>
          <p:cNvPr id="13" name="Text 11"/>
          <p:cNvSpPr/>
          <p:nvPr/>
        </p:nvSpPr>
        <p:spPr>
          <a:xfrm>
            <a:off x="8449270" y="3102402"/>
            <a:ext cx="538734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If an existing employee record changes (say, training status or designation), we don’t overwrite—it instead marks the old row as inactive.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410087" y="4481632"/>
            <a:ext cx="680442" cy="30480"/>
          </a:xfrm>
          <a:prstGeom prst="roundRect">
            <a:avLst>
              <a:gd name="adj" fmla="val 111628"/>
            </a:avLst>
          </a:prstGeom>
          <a:solidFill>
            <a:srgbClr val="535455"/>
          </a:solidFill>
          <a:ln/>
        </p:spPr>
        <p:txBody>
          <a:bodyPr/>
          <a:lstStyle/>
          <a:p>
            <a:endParaRPr lang="en-US" sz="200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7BC2A46-C89D-3226-5EF0-C75F0C64E187}"/>
              </a:ext>
            </a:extLst>
          </p:cNvPr>
          <p:cNvGrpSpPr/>
          <p:nvPr/>
        </p:nvGrpSpPr>
        <p:grpSpPr>
          <a:xfrm>
            <a:off x="7060049" y="4241721"/>
            <a:ext cx="510302" cy="544915"/>
            <a:chOff x="7060049" y="4241721"/>
            <a:chExt cx="510302" cy="544915"/>
          </a:xfrm>
        </p:grpSpPr>
        <p:sp>
          <p:nvSpPr>
            <p:cNvPr id="15" name="Shape 13"/>
            <p:cNvSpPr/>
            <p:nvPr/>
          </p:nvSpPr>
          <p:spPr>
            <a:xfrm>
              <a:off x="7060049" y="4241721"/>
              <a:ext cx="510302" cy="510302"/>
            </a:xfrm>
            <a:prstGeom prst="roundRect">
              <a:avLst>
                <a:gd name="adj" fmla="val 6667"/>
              </a:avLst>
            </a:prstGeom>
            <a:solidFill>
              <a:srgbClr val="3A3B3C"/>
            </a:solidFill>
            <a:ln/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6" name="Text 14"/>
            <p:cNvSpPr/>
            <p:nvPr/>
          </p:nvSpPr>
          <p:spPr>
            <a:xfrm>
              <a:off x="7145119" y="4361345"/>
              <a:ext cx="340162" cy="4252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650"/>
                </a:lnSpc>
                <a:buNone/>
              </a:pPr>
              <a:r>
                <a:rPr lang="en-US" sz="2800" dirty="0">
                  <a:solidFill>
                    <a:srgbClr val="CFCBBF"/>
                  </a:solidFill>
                  <a:latin typeface="Prata" pitchFamily="34" charset="0"/>
                  <a:ea typeface="Prata" pitchFamily="34" charset="-122"/>
                  <a:cs typeface="Prata" pitchFamily="34" charset="-120"/>
                </a:rPr>
                <a:t>3</a:t>
              </a:r>
              <a:endParaRPr lang="en-US" sz="2800" dirty="0"/>
            </a:p>
          </p:txBody>
        </p:sp>
      </p:grpSp>
      <p:sp>
        <p:nvSpPr>
          <p:cNvPr id="17" name="Text 15"/>
          <p:cNvSpPr/>
          <p:nvPr/>
        </p:nvSpPr>
        <p:spPr>
          <a:xfrm>
            <a:off x="3345894" y="43195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3200" u="sng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Checksum Logic </a:t>
            </a:r>
            <a:endParaRPr lang="en-US" sz="3200" u="sng" dirty="0"/>
          </a:p>
        </p:txBody>
      </p:sp>
      <p:sp>
        <p:nvSpPr>
          <p:cNvPr id="18" name="Text 16"/>
          <p:cNvSpPr/>
          <p:nvPr/>
        </p:nvSpPr>
        <p:spPr>
          <a:xfrm>
            <a:off x="793790" y="4810006"/>
            <a:ext cx="538734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If checksum differs → update curr_ind = 'N' and end_date = today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93790" y="5671899"/>
            <a:ext cx="538734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Insert new row → with curr_ind = 'Y', start_date = today, end_date = 9999-12-31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7539871" y="5786438"/>
            <a:ext cx="680442" cy="30480"/>
          </a:xfrm>
          <a:prstGeom prst="roundRect">
            <a:avLst>
              <a:gd name="adj" fmla="val 111628"/>
            </a:avLst>
          </a:prstGeom>
          <a:solidFill>
            <a:srgbClr val="535455"/>
          </a:solidFill>
          <a:ln/>
        </p:spPr>
        <p:txBody>
          <a:bodyPr/>
          <a:lstStyle/>
          <a:p>
            <a:endParaRPr lang="en-US" sz="200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F9E10F4-F0B6-6A7D-8D31-8F5500A0624D}"/>
              </a:ext>
            </a:extLst>
          </p:cNvPr>
          <p:cNvGrpSpPr/>
          <p:nvPr/>
        </p:nvGrpSpPr>
        <p:grpSpPr>
          <a:xfrm>
            <a:off x="7060049" y="5524493"/>
            <a:ext cx="510302" cy="566949"/>
            <a:chOff x="7060049" y="5524493"/>
            <a:chExt cx="510302" cy="566949"/>
          </a:xfrm>
        </p:grpSpPr>
        <p:sp>
          <p:nvSpPr>
            <p:cNvPr id="21" name="Shape 19"/>
            <p:cNvSpPr/>
            <p:nvPr/>
          </p:nvSpPr>
          <p:spPr>
            <a:xfrm>
              <a:off x="7060049" y="5524493"/>
              <a:ext cx="510302" cy="510302"/>
            </a:xfrm>
            <a:prstGeom prst="roundRect">
              <a:avLst>
                <a:gd name="adj" fmla="val 6667"/>
              </a:avLst>
            </a:prstGeom>
            <a:solidFill>
              <a:srgbClr val="3A3B3C"/>
            </a:solidFill>
            <a:ln/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2" name="Text 20"/>
            <p:cNvSpPr/>
            <p:nvPr/>
          </p:nvSpPr>
          <p:spPr>
            <a:xfrm>
              <a:off x="7145119" y="5666151"/>
              <a:ext cx="340162" cy="4252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650"/>
                </a:lnSpc>
                <a:buNone/>
              </a:pPr>
              <a:r>
                <a:rPr lang="en-US" sz="2800" dirty="0">
                  <a:solidFill>
                    <a:srgbClr val="CFCBBF"/>
                  </a:solidFill>
                  <a:latin typeface="Prata" pitchFamily="34" charset="0"/>
                  <a:ea typeface="Prata" pitchFamily="34" charset="-122"/>
                  <a:cs typeface="Prata" pitchFamily="34" charset="-120"/>
                </a:rPr>
                <a:t>4</a:t>
              </a:r>
              <a:endParaRPr lang="en-US" sz="2800" dirty="0"/>
            </a:p>
          </p:txBody>
        </p:sp>
      </p:grpSp>
      <p:sp>
        <p:nvSpPr>
          <p:cNvPr id="23" name="Text 21"/>
          <p:cNvSpPr/>
          <p:nvPr/>
        </p:nvSpPr>
        <p:spPr>
          <a:xfrm>
            <a:off x="8449270" y="5494734"/>
            <a:ext cx="380083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u="sng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Full History &amp; Current State</a:t>
            </a:r>
            <a:endParaRPr lang="en-US" sz="3200" u="sng" dirty="0"/>
          </a:p>
        </p:txBody>
      </p:sp>
      <p:sp>
        <p:nvSpPr>
          <p:cNvPr id="24" name="Text 22"/>
          <p:cNvSpPr/>
          <p:nvPr/>
        </p:nvSpPr>
        <p:spPr>
          <a:xfrm>
            <a:off x="8449270" y="5985153"/>
            <a:ext cx="538734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This gives full history of changes while allowing easy “current state” filtering.</a:t>
            </a:r>
            <a:endParaRPr lang="en-US" sz="24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9DF8DD2-99A0-E09B-BCCD-1665A38E2D5A}"/>
              </a:ext>
            </a:extLst>
          </p:cNvPr>
          <p:cNvSpPr/>
          <p:nvPr/>
        </p:nvSpPr>
        <p:spPr>
          <a:xfrm>
            <a:off x="12858161" y="7767687"/>
            <a:ext cx="1668545" cy="362903"/>
          </a:xfrm>
          <a:prstGeom prst="rect">
            <a:avLst/>
          </a:prstGeom>
          <a:solidFill>
            <a:srgbClr val="1B1C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5832" y="105949"/>
            <a:ext cx="702766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Sample Data Screenshots</a:t>
            </a:r>
            <a:endParaRPr lang="en-US" sz="4450" dirty="0"/>
          </a:p>
        </p:txBody>
      </p:sp>
      <p:sp>
        <p:nvSpPr>
          <p:cNvPr id="7" name="Text 3"/>
          <p:cNvSpPr/>
          <p:nvPr/>
        </p:nvSpPr>
        <p:spPr>
          <a:xfrm>
            <a:off x="5090441" y="4631141"/>
            <a:ext cx="136088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8042336" y="5205243"/>
            <a:ext cx="136088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9C0C1EC-EF31-EAEE-B505-2F3210E02419}"/>
              </a:ext>
            </a:extLst>
          </p:cNvPr>
          <p:cNvSpPr/>
          <p:nvPr/>
        </p:nvSpPr>
        <p:spPr>
          <a:xfrm>
            <a:off x="12858161" y="7767687"/>
            <a:ext cx="1668545" cy="362903"/>
          </a:xfrm>
          <a:prstGeom prst="rect">
            <a:avLst/>
          </a:prstGeom>
          <a:solidFill>
            <a:srgbClr val="1B1C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91948E9C-BE98-7778-B078-C1B6412930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9339262"/>
              </p:ext>
            </p:extLst>
          </p:nvPr>
        </p:nvGraphicFramePr>
        <p:xfrm>
          <a:off x="275422" y="814728"/>
          <a:ext cx="14002438" cy="73010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001219">
                  <a:extLst>
                    <a:ext uri="{9D8B030D-6E8A-4147-A177-3AD203B41FA5}">
                      <a16:colId xmlns:a16="http://schemas.microsoft.com/office/drawing/2014/main" val="2926554059"/>
                    </a:ext>
                  </a:extLst>
                </a:gridCol>
                <a:gridCol w="7001219">
                  <a:extLst>
                    <a:ext uri="{9D8B030D-6E8A-4147-A177-3AD203B41FA5}">
                      <a16:colId xmlns:a16="http://schemas.microsoft.com/office/drawing/2014/main" val="2613862871"/>
                    </a:ext>
                  </a:extLst>
                </a:gridCol>
              </a:tblGrid>
              <a:tr h="37824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 err="1">
                          <a:solidFill>
                            <a:srgbClr val="CFCBBF"/>
                          </a:solidFill>
                        </a:rPr>
                        <a:t>Rawz.Employee</a:t>
                      </a:r>
                      <a:endParaRPr lang="en-US" sz="2000" b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CFCBBF"/>
                          </a:solidFill>
                        </a:rPr>
                        <a:t>Full original columns from CSV with load key</a:t>
                      </a:r>
                      <a:endParaRPr lang="en-US" sz="2000" dirty="0"/>
                    </a:p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 err="1">
                          <a:solidFill>
                            <a:srgbClr val="CFCBBF"/>
                          </a:solidFill>
                        </a:rPr>
                        <a:t>Work.Employee</a:t>
                      </a:r>
                      <a:endParaRPr lang="en-US" sz="2000" b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CFCBBF"/>
                          </a:solidFill>
                        </a:rPr>
                        <a:t>Cleaned &amp; validated columns + checksum + surrogate key</a:t>
                      </a:r>
                      <a:endParaRPr lang="en-US" sz="2000" dirty="0"/>
                    </a:p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7164041"/>
                  </a:ext>
                </a:extLst>
              </a:tr>
              <a:tr h="35185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 err="1">
                          <a:solidFill>
                            <a:srgbClr val="CFCBBF"/>
                          </a:solidFill>
                        </a:rPr>
                        <a:t>Confz.Employee</a:t>
                      </a:r>
                      <a:endParaRPr lang="en-US" sz="2000" b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CFCBBF"/>
                          </a:solidFill>
                        </a:rPr>
                        <a:t>SCD2 fields added current indicator</a:t>
                      </a:r>
                      <a:endParaRPr lang="en-US" sz="2000" dirty="0"/>
                    </a:p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 err="1">
                          <a:solidFill>
                            <a:srgbClr val="CFCBBF"/>
                          </a:solidFill>
                        </a:rPr>
                        <a:t>Pubz.Result</a:t>
                      </a:r>
                      <a:endParaRPr lang="en-US" sz="2000" b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CFCBBF"/>
                          </a:solidFill>
                        </a:rPr>
                        <a:t>Final table with joined tables with total training hours</a:t>
                      </a:r>
                      <a:endParaRPr lang="en-US" sz="2000" dirty="0"/>
                    </a:p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1208709"/>
                  </a:ext>
                </a:extLst>
              </a:tr>
            </a:tbl>
          </a:graphicData>
        </a:graphic>
      </p:graphicFrame>
      <p:pic>
        <p:nvPicPr>
          <p:cNvPr id="21" name="Picture 20" descr="A screenshot of a computer">
            <a:extLst>
              <a:ext uri="{FF2B5EF4-FFF2-40B4-BE49-F238E27FC236}">
                <a16:creationId xmlns:a16="http://schemas.microsoft.com/office/drawing/2014/main" id="{FEFC8D07-3070-DECC-F945-D9870B3EE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221" y="1594311"/>
            <a:ext cx="6638385" cy="27456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1BDA641-537B-DC52-5A65-A6C67F751B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2021" y="1587717"/>
            <a:ext cx="6743299" cy="27456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8983F5E-B332-FFF2-C6CC-813C8BDC02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430" y="5332573"/>
            <a:ext cx="6648135" cy="27488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ED485A7-9E35-11FF-9FD3-AE6A45D721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2360" y="5332367"/>
            <a:ext cx="6633129" cy="27488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721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Testing Outputs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599507" y="45674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 → B Testing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1887" y="489330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548457" y="45674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Row Count Testing</a:t>
            </a:r>
            <a:endParaRPr lang="en-US" sz="28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D44193-7F58-79A4-BCEE-DE199369C8FF}"/>
              </a:ext>
            </a:extLst>
          </p:cNvPr>
          <p:cNvSpPr/>
          <p:nvPr/>
        </p:nvSpPr>
        <p:spPr>
          <a:xfrm>
            <a:off x="12858161" y="7767687"/>
            <a:ext cx="1668545" cy="362903"/>
          </a:xfrm>
          <a:prstGeom prst="rect">
            <a:avLst/>
          </a:prstGeom>
          <a:solidFill>
            <a:srgbClr val="1B1C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E29DA7E-D547-8D89-AD03-E85FFA699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102" y="1375723"/>
            <a:ext cx="6094494" cy="28417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D1CF3EB-6FA3-F682-07AE-7DB05C06DA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9340" y="1583626"/>
            <a:ext cx="7088717" cy="24518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77BFABC-29A8-DD5D-CFD4-329E680C53A2}"/>
              </a:ext>
            </a:extLst>
          </p:cNvPr>
          <p:cNvSpPr txBox="1"/>
          <p:nvPr/>
        </p:nvSpPr>
        <p:spPr>
          <a:xfrm>
            <a:off x="219671" y="5116054"/>
            <a:ext cx="6963327" cy="2310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 validated that rows from Work zone are correctly loaded into </a:t>
            </a:r>
            <a:r>
              <a:rPr lang="en-US" sz="2400" dirty="0" err="1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Confz</a:t>
            </a: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zone using checksum comparison.</a:t>
            </a: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2400" dirty="0">
              <a:solidFill>
                <a:srgbClr val="CFCBBF"/>
              </a:solidFill>
              <a:latin typeface="Raleway" pitchFamily="34" charset="0"/>
              <a:ea typeface="Raleway" pitchFamily="34" charset="-122"/>
              <a:cs typeface="Raleway" pitchFamily="34" charset="-120"/>
            </a:endParaRPr>
          </a:p>
          <a:p>
            <a:pPr marL="342900" indent="-342900">
              <a:lnSpc>
                <a:spcPts val="2850"/>
              </a:lnSpc>
              <a:buSzPct val="100000"/>
              <a:buFontTx/>
              <a:buChar char="•"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Query confirms all checksums from Work exist in </a:t>
            </a:r>
            <a:r>
              <a:rPr lang="en-US" sz="2400" dirty="0" err="1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Confz</a:t>
            </a: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(LEFT ANTI JOIN returns zero).</a:t>
            </a:r>
            <a:endParaRPr lang="en-US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4800EA-6774-9E59-0C83-5165DB03F497}"/>
              </a:ext>
            </a:extLst>
          </p:cNvPr>
          <p:cNvSpPr txBox="1"/>
          <p:nvPr/>
        </p:nvSpPr>
        <p:spPr>
          <a:xfrm>
            <a:off x="7589013" y="5116054"/>
            <a:ext cx="636935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Row counts of Work zone vs </a:t>
            </a:r>
            <a:r>
              <a:rPr lang="en-US" sz="2400" dirty="0" err="1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Confz</a:t>
            </a: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current data are compared.</a:t>
            </a:r>
          </a:p>
          <a:p>
            <a:pPr marL="342900" indent="-342900" algn="l">
              <a:buSzPct val="100000"/>
              <a:buChar char="•"/>
            </a:pPr>
            <a:endParaRPr lang="en-US" sz="2400" dirty="0">
              <a:solidFill>
                <a:srgbClr val="CFCBBF"/>
              </a:solidFill>
              <a:latin typeface="Raleway" pitchFamily="34" charset="0"/>
              <a:ea typeface="Raleway" pitchFamily="34" charset="-122"/>
              <a:cs typeface="Raleway" pitchFamily="34" charset="-120"/>
            </a:endParaRPr>
          </a:p>
          <a:p>
            <a:pPr marL="342900" indent="-342900">
              <a:buSzPct val="100000"/>
              <a:buFontTx/>
              <a:buChar char="•"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If counts mismatch, then it indicates a transformation or SCD2 logic gap.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74" y="413445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Workflow and Job Orchestration</a:t>
            </a:r>
            <a:endParaRPr lang="en-US" sz="4450" dirty="0"/>
          </a:p>
        </p:txBody>
      </p:sp>
      <p:sp>
        <p:nvSpPr>
          <p:cNvPr id="7" name="Text 4"/>
          <p:cNvSpPr/>
          <p:nvPr/>
        </p:nvSpPr>
        <p:spPr>
          <a:xfrm>
            <a:off x="954502" y="2317748"/>
            <a:ext cx="23987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Step 1: Ingest Raw CSV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954502" y="2816739"/>
            <a:ext cx="2398752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0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Ingest raw CSV and audit log update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2588538" y="4284099"/>
            <a:ext cx="239887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Step 2: Work Zone Cleaning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2588538" y="5145992"/>
            <a:ext cx="2398871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0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Work zone cleaning and deduplication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4442912" y="2306731"/>
            <a:ext cx="239887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Step 3: Confz Merge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4442912" y="2805722"/>
            <a:ext cx="2398871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0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Confz merge with SCD2 tracking</a:t>
            </a:r>
            <a:endParaRPr lang="en-US" sz="20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7C0D050-6AC0-57A4-8569-A28A992807D3}"/>
              </a:ext>
            </a:extLst>
          </p:cNvPr>
          <p:cNvGrpSpPr/>
          <p:nvPr/>
        </p:nvGrpSpPr>
        <p:grpSpPr>
          <a:xfrm>
            <a:off x="793790" y="3546983"/>
            <a:ext cx="7556421" cy="600000"/>
            <a:chOff x="793790" y="3546983"/>
            <a:chExt cx="7556421" cy="600000"/>
          </a:xfrm>
        </p:grpSpPr>
        <p:sp>
          <p:nvSpPr>
            <p:cNvPr id="4" name="Shape 1"/>
            <p:cNvSpPr/>
            <p:nvPr/>
          </p:nvSpPr>
          <p:spPr>
            <a:xfrm>
              <a:off x="793790" y="3802134"/>
              <a:ext cx="7556421" cy="30480"/>
            </a:xfrm>
            <a:prstGeom prst="roundRect">
              <a:avLst>
                <a:gd name="adj" fmla="val 111628"/>
              </a:avLst>
            </a:prstGeom>
            <a:solidFill>
              <a:srgbClr val="535455"/>
            </a:solidFill>
            <a:ln/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5" name="Shape 2"/>
            <p:cNvSpPr/>
            <p:nvPr/>
          </p:nvSpPr>
          <p:spPr>
            <a:xfrm>
              <a:off x="1964769" y="3546983"/>
              <a:ext cx="510302" cy="510302"/>
            </a:xfrm>
            <a:prstGeom prst="roundRect">
              <a:avLst>
                <a:gd name="adj" fmla="val 6667"/>
              </a:avLst>
            </a:prstGeom>
            <a:solidFill>
              <a:srgbClr val="FCEC99"/>
            </a:solidFill>
            <a:ln/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6" name="Text 3"/>
            <p:cNvSpPr/>
            <p:nvPr/>
          </p:nvSpPr>
          <p:spPr>
            <a:xfrm>
              <a:off x="2049840" y="3721692"/>
              <a:ext cx="340162" cy="4252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650"/>
                </a:lnSpc>
                <a:buNone/>
              </a:pPr>
              <a:r>
                <a:rPr lang="en-US" sz="3600" dirty="0">
                  <a:solidFill>
                    <a:srgbClr val="000000"/>
                  </a:solidFill>
                  <a:latin typeface="Prata" pitchFamily="34" charset="0"/>
                  <a:ea typeface="Prata" pitchFamily="34" charset="-122"/>
                  <a:cs typeface="Prata" pitchFamily="34" charset="-120"/>
                </a:rPr>
                <a:t>1</a:t>
              </a:r>
              <a:endParaRPr lang="en-US" sz="3600" dirty="0"/>
            </a:p>
          </p:txBody>
        </p:sp>
        <p:sp>
          <p:nvSpPr>
            <p:cNvPr id="9" name="Shape 6"/>
            <p:cNvSpPr/>
            <p:nvPr/>
          </p:nvSpPr>
          <p:spPr>
            <a:xfrm>
              <a:off x="3532823" y="3546983"/>
              <a:ext cx="510302" cy="510302"/>
            </a:xfrm>
            <a:prstGeom prst="roundRect">
              <a:avLst>
                <a:gd name="adj" fmla="val 6667"/>
              </a:avLst>
            </a:prstGeom>
            <a:solidFill>
              <a:srgbClr val="FCEC99"/>
            </a:solidFill>
            <a:ln/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10" name="Text 7"/>
            <p:cNvSpPr/>
            <p:nvPr/>
          </p:nvSpPr>
          <p:spPr>
            <a:xfrm>
              <a:off x="3617893" y="3721692"/>
              <a:ext cx="340162" cy="4252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650"/>
                </a:lnSpc>
                <a:buNone/>
              </a:pPr>
              <a:r>
                <a:rPr lang="en-US" sz="3600" dirty="0">
                  <a:solidFill>
                    <a:srgbClr val="000000"/>
                  </a:solidFill>
                  <a:latin typeface="Prata" pitchFamily="34" charset="0"/>
                  <a:ea typeface="Prata" pitchFamily="34" charset="-122"/>
                  <a:cs typeface="Prata" pitchFamily="34" charset="-120"/>
                </a:rPr>
                <a:t>2</a:t>
              </a:r>
              <a:endParaRPr lang="en-US" sz="3600" dirty="0"/>
            </a:p>
          </p:txBody>
        </p:sp>
        <p:sp>
          <p:nvSpPr>
            <p:cNvPr id="13" name="Shape 10"/>
            <p:cNvSpPr/>
            <p:nvPr/>
          </p:nvSpPr>
          <p:spPr>
            <a:xfrm>
              <a:off x="5100757" y="3546983"/>
              <a:ext cx="510302" cy="510302"/>
            </a:xfrm>
            <a:prstGeom prst="roundRect">
              <a:avLst>
                <a:gd name="adj" fmla="val 6667"/>
              </a:avLst>
            </a:prstGeom>
            <a:solidFill>
              <a:srgbClr val="FCEC99"/>
            </a:solidFill>
            <a:ln/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14" name="Text 11"/>
            <p:cNvSpPr/>
            <p:nvPr/>
          </p:nvSpPr>
          <p:spPr>
            <a:xfrm>
              <a:off x="5185827" y="3721692"/>
              <a:ext cx="340162" cy="4252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650"/>
                </a:lnSpc>
                <a:buNone/>
              </a:pPr>
              <a:r>
                <a:rPr lang="en-US" sz="3600" dirty="0">
                  <a:solidFill>
                    <a:srgbClr val="000000"/>
                  </a:solidFill>
                  <a:latin typeface="Prata" pitchFamily="34" charset="0"/>
                  <a:ea typeface="Prata" pitchFamily="34" charset="-122"/>
                  <a:cs typeface="Prata" pitchFamily="34" charset="-120"/>
                </a:rPr>
                <a:t>3</a:t>
              </a:r>
              <a:endParaRPr lang="en-US" sz="3600" dirty="0"/>
            </a:p>
          </p:txBody>
        </p:sp>
        <p:sp>
          <p:nvSpPr>
            <p:cNvPr id="17" name="Shape 14"/>
            <p:cNvSpPr/>
            <p:nvPr/>
          </p:nvSpPr>
          <p:spPr>
            <a:xfrm>
              <a:off x="6668810" y="3546983"/>
              <a:ext cx="510302" cy="510302"/>
            </a:xfrm>
            <a:prstGeom prst="roundRect">
              <a:avLst>
                <a:gd name="adj" fmla="val 6667"/>
              </a:avLst>
            </a:prstGeom>
            <a:solidFill>
              <a:srgbClr val="FCEC99"/>
            </a:solidFill>
            <a:ln/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18" name="Text 15"/>
            <p:cNvSpPr/>
            <p:nvPr/>
          </p:nvSpPr>
          <p:spPr>
            <a:xfrm>
              <a:off x="6753880" y="3721692"/>
              <a:ext cx="340162" cy="4252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650"/>
                </a:lnSpc>
                <a:buNone/>
              </a:pPr>
              <a:r>
                <a:rPr lang="en-US" sz="3600" dirty="0">
                  <a:solidFill>
                    <a:srgbClr val="000000"/>
                  </a:solidFill>
                  <a:latin typeface="Prata" pitchFamily="34" charset="0"/>
                  <a:ea typeface="Prata" pitchFamily="34" charset="-122"/>
                  <a:cs typeface="Prata" pitchFamily="34" charset="-120"/>
                </a:rPr>
                <a:t>4</a:t>
              </a:r>
              <a:endParaRPr lang="en-US" sz="3600" dirty="0"/>
            </a:p>
          </p:txBody>
        </p:sp>
      </p:grpSp>
      <p:sp>
        <p:nvSpPr>
          <p:cNvPr id="19" name="Text 16"/>
          <p:cNvSpPr/>
          <p:nvPr/>
        </p:nvSpPr>
        <p:spPr>
          <a:xfrm>
            <a:off x="5724525" y="4284099"/>
            <a:ext cx="239887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Step 4: Final Reporting Layer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5724525" y="5145992"/>
            <a:ext cx="2398871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0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Final reporting layer (Pubz zone)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293250" y="6352179"/>
            <a:ext cx="8509227" cy="1596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Jobs were built using Databricks Workflows with clear</a:t>
            </a:r>
          </a:p>
          <a:p>
            <a:pPr algn="l">
              <a:lnSpc>
                <a:spcPts val="2850"/>
              </a:lnSpc>
              <a:buSzPct val="100000"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dependencies.</a:t>
            </a: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Each stage is logged and can be time-traveled using </a:t>
            </a:r>
          </a:p>
          <a:p>
            <a:pPr algn="l">
              <a:lnSpc>
                <a:spcPts val="2850"/>
              </a:lnSpc>
              <a:buSzPct val="100000"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Delta Lake features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37770-2721-E452-6F0C-BD6E4D3E3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09C9BAC-380E-1B9B-BBED-EAE3A60E348E}"/>
              </a:ext>
            </a:extLst>
          </p:cNvPr>
          <p:cNvSpPr/>
          <p:nvPr/>
        </p:nvSpPr>
        <p:spPr>
          <a:xfrm>
            <a:off x="793790" y="3721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Job Flow </a:t>
            </a:r>
            <a:endParaRPr lang="en-US" sz="44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1930E90-9849-3750-6A38-7C25851BB56D}"/>
              </a:ext>
            </a:extLst>
          </p:cNvPr>
          <p:cNvSpPr/>
          <p:nvPr/>
        </p:nvSpPr>
        <p:spPr>
          <a:xfrm>
            <a:off x="599507" y="45674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DDL </a:t>
            </a:r>
            <a:endParaRPr lang="en-US" sz="2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1D386DC-67EE-6C4C-6D34-22BB2B5885D0}"/>
              </a:ext>
            </a:extLst>
          </p:cNvPr>
          <p:cNvSpPr/>
          <p:nvPr/>
        </p:nvSpPr>
        <p:spPr>
          <a:xfrm>
            <a:off x="7548457" y="45674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F2E782"/>
                </a:solidFill>
                <a:latin typeface="Prata" pitchFamily="34" charset="0"/>
              </a:rPr>
              <a:t>Data Ingestion </a:t>
            </a:r>
            <a:endParaRPr lang="en-US" sz="28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10D3DC-0935-D19D-7C6A-8FA7174A5E75}"/>
              </a:ext>
            </a:extLst>
          </p:cNvPr>
          <p:cNvSpPr/>
          <p:nvPr/>
        </p:nvSpPr>
        <p:spPr>
          <a:xfrm>
            <a:off x="12858161" y="7767687"/>
            <a:ext cx="1668545" cy="362903"/>
          </a:xfrm>
          <a:prstGeom prst="rect">
            <a:avLst/>
          </a:prstGeom>
          <a:solidFill>
            <a:srgbClr val="1B1C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B7F19D7-B0B5-4C5A-554F-1E5760608B95}"/>
              </a:ext>
            </a:extLst>
          </p:cNvPr>
          <p:cNvSpPr txBox="1"/>
          <p:nvPr/>
        </p:nvSpPr>
        <p:spPr>
          <a:xfrm>
            <a:off x="243314" y="5116054"/>
            <a:ext cx="6963327" cy="8227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850"/>
              </a:lnSpc>
              <a:buSzPct val="100000"/>
              <a:buFontTx/>
              <a:buChar char="•"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</a:rPr>
              <a:t>This Job Contains All the DDL commands of the table</a:t>
            </a:r>
            <a:endParaRPr lang="en-US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410EC2-D5FC-120D-6A12-99BC0B38DAC6}"/>
              </a:ext>
            </a:extLst>
          </p:cNvPr>
          <p:cNvSpPr txBox="1"/>
          <p:nvPr/>
        </p:nvSpPr>
        <p:spPr>
          <a:xfrm>
            <a:off x="7589013" y="5116054"/>
            <a:ext cx="63693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</a:rPr>
              <a:t>In the job ingestion job, the data is ingested from DBFS to </a:t>
            </a:r>
            <a:r>
              <a:rPr lang="en-US" sz="2400" dirty="0" err="1">
                <a:solidFill>
                  <a:srgbClr val="CFCBBF"/>
                </a:solidFill>
                <a:latin typeface="Raleway" pitchFamily="34" charset="0"/>
              </a:rPr>
              <a:t>rawz</a:t>
            </a:r>
            <a:r>
              <a:rPr lang="en-US" sz="2400" dirty="0">
                <a:solidFill>
                  <a:srgbClr val="CFCBBF"/>
                </a:solidFill>
                <a:latin typeface="Raleway" pitchFamily="34" charset="0"/>
              </a:rPr>
              <a:t> layer.</a:t>
            </a:r>
            <a:endParaRPr lang="en-US" sz="2400" dirty="0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18A5A4F8-6ECD-3052-7029-A55D932FAD32}"/>
              </a:ext>
            </a:extLst>
          </p:cNvPr>
          <p:cNvSpPr/>
          <p:nvPr/>
        </p:nvSpPr>
        <p:spPr>
          <a:xfrm>
            <a:off x="599507" y="64934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F2E782"/>
                </a:solidFill>
                <a:latin typeface="Prata" pitchFamily="34" charset="0"/>
              </a:rPr>
              <a:t>Workflow layers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CA6820-F7EF-29B5-CBAA-9FF03E4FECEA}"/>
              </a:ext>
            </a:extLst>
          </p:cNvPr>
          <p:cNvSpPr txBox="1"/>
          <p:nvPr/>
        </p:nvSpPr>
        <p:spPr>
          <a:xfrm>
            <a:off x="243314" y="7042030"/>
            <a:ext cx="65429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</a:rPr>
              <a:t>The data is their transformed from </a:t>
            </a:r>
            <a:r>
              <a:rPr lang="en-US" sz="2400" dirty="0" err="1">
                <a:solidFill>
                  <a:srgbClr val="CFCBBF"/>
                </a:solidFill>
                <a:latin typeface="Raleway" pitchFamily="34" charset="0"/>
              </a:rPr>
              <a:t>rawz</a:t>
            </a:r>
            <a:r>
              <a:rPr lang="en-US" sz="2400" dirty="0">
                <a:solidFill>
                  <a:srgbClr val="CFCBBF"/>
                </a:solidFill>
                <a:latin typeface="Raleway" pitchFamily="34" charset="0"/>
              </a:rPr>
              <a:t> to work to </a:t>
            </a:r>
            <a:r>
              <a:rPr lang="en-US" sz="2400" dirty="0" err="1">
                <a:solidFill>
                  <a:srgbClr val="CFCBBF"/>
                </a:solidFill>
                <a:latin typeface="Raleway" pitchFamily="34" charset="0"/>
              </a:rPr>
              <a:t>confz</a:t>
            </a:r>
            <a:r>
              <a:rPr lang="en-US" sz="2400" dirty="0">
                <a:solidFill>
                  <a:srgbClr val="CFCBBF"/>
                </a:solidFill>
                <a:latin typeface="Raleway" pitchFamily="34" charset="0"/>
              </a:rPr>
              <a:t> layers.</a:t>
            </a:r>
            <a:endParaRPr lang="en-US" sz="24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F5655D26-771F-3A47-CCAD-A862390CED47}"/>
              </a:ext>
            </a:extLst>
          </p:cNvPr>
          <p:cNvSpPr/>
          <p:nvPr/>
        </p:nvSpPr>
        <p:spPr>
          <a:xfrm>
            <a:off x="7671393" y="64934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F2E782"/>
                </a:solidFill>
                <a:latin typeface="Prata" pitchFamily="34" charset="0"/>
              </a:rPr>
              <a:t>Workflow layers</a:t>
            </a:r>
            <a:endParaRPr lang="en-US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38882A-05BA-7E23-DA54-17D4CC8EFD7D}"/>
              </a:ext>
            </a:extLst>
          </p:cNvPr>
          <p:cNvSpPr txBox="1"/>
          <p:nvPr/>
        </p:nvSpPr>
        <p:spPr>
          <a:xfrm>
            <a:off x="7589013" y="7042030"/>
            <a:ext cx="65429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</a:rPr>
              <a:t>The data is their transformed from </a:t>
            </a:r>
            <a:r>
              <a:rPr lang="en-US" sz="2400" dirty="0" err="1">
                <a:solidFill>
                  <a:srgbClr val="CFCBBF"/>
                </a:solidFill>
                <a:latin typeface="Raleway" pitchFamily="34" charset="0"/>
              </a:rPr>
              <a:t>rawz</a:t>
            </a:r>
            <a:r>
              <a:rPr lang="en-US" sz="2400" dirty="0">
                <a:solidFill>
                  <a:srgbClr val="CFCBBF"/>
                </a:solidFill>
                <a:latin typeface="Raleway" pitchFamily="34" charset="0"/>
              </a:rPr>
              <a:t> to work to </a:t>
            </a:r>
            <a:r>
              <a:rPr lang="en-US" sz="2400" dirty="0" err="1">
                <a:solidFill>
                  <a:srgbClr val="CFCBBF"/>
                </a:solidFill>
                <a:latin typeface="Raleway" pitchFamily="34" charset="0"/>
              </a:rPr>
              <a:t>confz</a:t>
            </a:r>
            <a:r>
              <a:rPr lang="en-US" sz="2400" dirty="0">
                <a:solidFill>
                  <a:srgbClr val="CFCBBF"/>
                </a:solidFill>
                <a:latin typeface="Raleway" pitchFamily="34" charset="0"/>
              </a:rPr>
              <a:t> layers.</a:t>
            </a:r>
            <a:endParaRPr lang="en-US" sz="24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330F39D-15A9-597A-B3A5-62032CB031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4004" y="196728"/>
            <a:ext cx="9622606" cy="41330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486883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347430" y="459546"/>
            <a:ext cx="755213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Result Output in Pubz Zone</a:t>
            </a:r>
            <a:endParaRPr lang="en-US" sz="445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86A8492-D4CB-F02D-FF32-3314A43D7F96}"/>
              </a:ext>
            </a:extLst>
          </p:cNvPr>
          <p:cNvGrpSpPr/>
          <p:nvPr/>
        </p:nvGrpSpPr>
        <p:grpSpPr>
          <a:xfrm>
            <a:off x="6469665" y="1728061"/>
            <a:ext cx="680442" cy="707588"/>
            <a:chOff x="6280190" y="2097405"/>
            <a:chExt cx="680442" cy="707588"/>
          </a:xfrm>
        </p:grpSpPr>
        <p:sp>
          <p:nvSpPr>
            <p:cNvPr id="4" name="Shape 1"/>
            <p:cNvSpPr/>
            <p:nvPr/>
          </p:nvSpPr>
          <p:spPr>
            <a:xfrm>
              <a:off x="6314123" y="2097405"/>
              <a:ext cx="612338" cy="707588"/>
            </a:xfrm>
            <a:prstGeom prst="roundRect">
              <a:avLst>
                <a:gd name="adj" fmla="val 8960"/>
              </a:avLst>
            </a:prstGeom>
            <a:solidFill>
              <a:srgbClr val="4D4D51"/>
            </a:solidFill>
            <a:ln/>
          </p:spPr>
          <p:txBody>
            <a:bodyPr/>
            <a:lstStyle/>
            <a:p>
              <a:endParaRPr lang="en-US" sz="2800"/>
            </a:p>
          </p:txBody>
        </p:sp>
        <p:pic>
          <p:nvPicPr>
            <p:cNvPr id="5" name="Image 1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80190" y="2110978"/>
              <a:ext cx="680442" cy="680442"/>
            </a:xfrm>
            <a:prstGeom prst="rect">
              <a:avLst/>
            </a:prstGeom>
          </p:spPr>
        </p:pic>
      </p:grpSp>
      <p:sp>
        <p:nvSpPr>
          <p:cNvPr id="6" name="Text 2"/>
          <p:cNvSpPr/>
          <p:nvPr/>
        </p:nvSpPr>
        <p:spPr>
          <a:xfrm>
            <a:off x="7342988" y="1889034"/>
            <a:ext cx="272915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Employee Contact &amp; Department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7342988" y="2750927"/>
            <a:ext cx="2729151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Includes employee contact and department</a:t>
            </a:r>
            <a:endParaRPr lang="en-US" sz="2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4E1BB67-C8B3-C36A-F59D-23A7CA024264}"/>
              </a:ext>
            </a:extLst>
          </p:cNvPr>
          <p:cNvGrpSpPr/>
          <p:nvPr/>
        </p:nvGrpSpPr>
        <p:grpSpPr>
          <a:xfrm>
            <a:off x="10102237" y="1728061"/>
            <a:ext cx="680442" cy="707588"/>
            <a:chOff x="10200084" y="2097405"/>
            <a:chExt cx="680442" cy="707588"/>
          </a:xfrm>
        </p:grpSpPr>
        <p:sp>
          <p:nvSpPr>
            <p:cNvPr id="8" name="Shape 4"/>
            <p:cNvSpPr/>
            <p:nvPr/>
          </p:nvSpPr>
          <p:spPr>
            <a:xfrm>
              <a:off x="10234017" y="2097405"/>
              <a:ext cx="612338" cy="707588"/>
            </a:xfrm>
            <a:prstGeom prst="roundRect">
              <a:avLst>
                <a:gd name="adj" fmla="val 8960"/>
              </a:avLst>
            </a:prstGeom>
            <a:solidFill>
              <a:srgbClr val="4D4D51"/>
            </a:solidFill>
            <a:ln/>
          </p:spPr>
          <p:txBody>
            <a:bodyPr/>
            <a:lstStyle/>
            <a:p>
              <a:endParaRPr lang="en-US" sz="2800"/>
            </a:p>
          </p:txBody>
        </p:sp>
        <p:pic>
          <p:nvPicPr>
            <p:cNvPr id="9" name="Image 2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00084" y="2110978"/>
              <a:ext cx="680442" cy="680442"/>
            </a:xfrm>
            <a:prstGeom prst="rect">
              <a:avLst/>
            </a:prstGeom>
          </p:spPr>
        </p:pic>
      </p:grpSp>
      <p:sp>
        <p:nvSpPr>
          <p:cNvPr id="10" name="Text 5"/>
          <p:cNvSpPr/>
          <p:nvPr/>
        </p:nvSpPr>
        <p:spPr>
          <a:xfrm>
            <a:off x="11009494" y="1889034"/>
            <a:ext cx="27292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Assigned Project &amp; Domain</a:t>
            </a:r>
            <a:endParaRPr lang="en-US" sz="2400" dirty="0"/>
          </a:p>
        </p:txBody>
      </p:sp>
      <p:sp>
        <p:nvSpPr>
          <p:cNvPr id="11" name="Text 6"/>
          <p:cNvSpPr/>
          <p:nvPr/>
        </p:nvSpPr>
        <p:spPr>
          <a:xfrm>
            <a:off x="11009494" y="2750927"/>
            <a:ext cx="272927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Assigned project and domain</a:t>
            </a:r>
            <a:endParaRPr lang="en-US" sz="2000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2FA655F-7750-614B-6268-ACD4257E7F43}"/>
              </a:ext>
            </a:extLst>
          </p:cNvPr>
          <p:cNvGrpSpPr/>
          <p:nvPr/>
        </p:nvGrpSpPr>
        <p:grpSpPr>
          <a:xfrm>
            <a:off x="6503598" y="3879495"/>
            <a:ext cx="680442" cy="707588"/>
            <a:chOff x="6280190" y="4180523"/>
            <a:chExt cx="680442" cy="707588"/>
          </a:xfrm>
        </p:grpSpPr>
        <p:sp>
          <p:nvSpPr>
            <p:cNvPr id="12" name="Shape 7"/>
            <p:cNvSpPr/>
            <p:nvPr/>
          </p:nvSpPr>
          <p:spPr>
            <a:xfrm>
              <a:off x="6314123" y="4180523"/>
              <a:ext cx="612338" cy="707588"/>
            </a:xfrm>
            <a:prstGeom prst="roundRect">
              <a:avLst>
                <a:gd name="adj" fmla="val 8960"/>
              </a:avLst>
            </a:prstGeom>
            <a:solidFill>
              <a:srgbClr val="4D4D51"/>
            </a:solidFill>
            <a:ln/>
          </p:spPr>
          <p:txBody>
            <a:bodyPr/>
            <a:lstStyle/>
            <a:p>
              <a:endParaRPr lang="en-US" sz="2800"/>
            </a:p>
          </p:txBody>
        </p:sp>
        <p:pic>
          <p:nvPicPr>
            <p:cNvPr id="13" name="Image 3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80190" y="4194096"/>
              <a:ext cx="680442" cy="680442"/>
            </a:xfrm>
            <a:prstGeom prst="rect">
              <a:avLst/>
            </a:prstGeom>
          </p:spPr>
        </p:pic>
      </p:grpSp>
      <p:sp>
        <p:nvSpPr>
          <p:cNvPr id="14" name="Text 8"/>
          <p:cNvSpPr/>
          <p:nvPr/>
        </p:nvSpPr>
        <p:spPr>
          <a:xfrm>
            <a:off x="7410854" y="3952331"/>
            <a:ext cx="272915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Payroll</a:t>
            </a:r>
            <a:endParaRPr lang="en-US" sz="2400" dirty="0"/>
          </a:p>
        </p:txBody>
      </p:sp>
      <p:sp>
        <p:nvSpPr>
          <p:cNvPr id="15" name="Text 9"/>
          <p:cNvSpPr/>
          <p:nvPr/>
        </p:nvSpPr>
        <p:spPr>
          <a:xfrm>
            <a:off x="7399837" y="4452323"/>
            <a:ext cx="2729151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Payroll : base pay, bonus, total pay</a:t>
            </a:r>
            <a:endParaRPr lang="en-US" sz="200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40A7AA7-D39D-6EBB-EC89-B7322B91F448}"/>
              </a:ext>
            </a:extLst>
          </p:cNvPr>
          <p:cNvGrpSpPr/>
          <p:nvPr/>
        </p:nvGrpSpPr>
        <p:grpSpPr>
          <a:xfrm>
            <a:off x="10204036" y="3879495"/>
            <a:ext cx="680442" cy="707588"/>
            <a:chOff x="10200084" y="4180523"/>
            <a:chExt cx="680442" cy="707588"/>
          </a:xfrm>
        </p:grpSpPr>
        <p:sp>
          <p:nvSpPr>
            <p:cNvPr id="16" name="Shape 10"/>
            <p:cNvSpPr/>
            <p:nvPr/>
          </p:nvSpPr>
          <p:spPr>
            <a:xfrm>
              <a:off x="10234017" y="4180523"/>
              <a:ext cx="612338" cy="707588"/>
            </a:xfrm>
            <a:prstGeom prst="roundRect">
              <a:avLst>
                <a:gd name="adj" fmla="val 8960"/>
              </a:avLst>
            </a:prstGeom>
            <a:solidFill>
              <a:srgbClr val="4D4D51"/>
            </a:solidFill>
            <a:ln/>
          </p:spPr>
          <p:txBody>
            <a:bodyPr/>
            <a:lstStyle/>
            <a:p>
              <a:endParaRPr lang="en-US" sz="2800"/>
            </a:p>
          </p:txBody>
        </p:sp>
        <p:pic>
          <p:nvPicPr>
            <p:cNvPr id="17" name="Image 4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00084" y="4194096"/>
              <a:ext cx="680442" cy="680442"/>
            </a:xfrm>
            <a:prstGeom prst="rect">
              <a:avLst/>
            </a:prstGeom>
          </p:spPr>
        </p:pic>
      </p:grpSp>
      <p:sp>
        <p:nvSpPr>
          <p:cNvPr id="18" name="Text 11"/>
          <p:cNvSpPr/>
          <p:nvPr/>
        </p:nvSpPr>
        <p:spPr>
          <a:xfrm>
            <a:off x="11077360" y="3952331"/>
            <a:ext cx="27292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Training Hours</a:t>
            </a:r>
            <a:endParaRPr lang="en-US" sz="2400" dirty="0"/>
          </a:p>
        </p:txBody>
      </p:sp>
      <p:sp>
        <p:nvSpPr>
          <p:cNvPr id="19" name="Text 12"/>
          <p:cNvSpPr/>
          <p:nvPr/>
        </p:nvSpPr>
        <p:spPr>
          <a:xfrm>
            <a:off x="11140313" y="4440017"/>
            <a:ext cx="2729270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training hours summed across all training attended</a:t>
            </a:r>
            <a:endParaRPr lang="en-US" sz="20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F952936-5965-CCA3-1A98-BD2B3A243854}"/>
              </a:ext>
            </a:extLst>
          </p:cNvPr>
          <p:cNvSpPr/>
          <p:nvPr/>
        </p:nvSpPr>
        <p:spPr>
          <a:xfrm>
            <a:off x="12858161" y="7767687"/>
            <a:ext cx="1668545" cy="362903"/>
          </a:xfrm>
          <a:prstGeom prst="rect">
            <a:avLst/>
          </a:prstGeom>
          <a:solidFill>
            <a:srgbClr val="1B1C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3C5D26A-A4CC-D94B-308D-187F00400E07}"/>
              </a:ext>
            </a:extLst>
          </p:cNvPr>
          <p:cNvSpPr txBox="1"/>
          <p:nvPr/>
        </p:nvSpPr>
        <p:spPr>
          <a:xfrm>
            <a:off x="6556378" y="5817779"/>
            <a:ext cx="8027654" cy="1553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Final table </a:t>
            </a:r>
            <a:r>
              <a:rPr lang="en-US" sz="2400" dirty="0" err="1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pubz.result</a:t>
            </a: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provides a one-glance view for decision makers.</a:t>
            </a:r>
          </a:p>
          <a:p>
            <a:pPr marL="342900" indent="-342900">
              <a:lnSpc>
                <a:spcPts val="2850"/>
              </a:lnSpc>
              <a:buSzPct val="100000"/>
              <a:buFontTx/>
              <a:buChar char="•"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This is the key outcome of the entire project—ready to be consumed for business insight and much more.</a:t>
            </a:r>
            <a:endParaRPr lang="en-US" sz="24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00B519C-5C6D-75EA-72AD-1ABD0155FD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724" y="498751"/>
            <a:ext cx="5952653" cy="34793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F938B250-11A7-0A75-53CA-C69FEB3BC3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724" y="4233289"/>
            <a:ext cx="5952653" cy="35843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4132" y="275477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72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4" name="Text 1"/>
          <p:cNvSpPr/>
          <p:nvPr/>
        </p:nvSpPr>
        <p:spPr>
          <a:xfrm>
            <a:off x="364132" y="426793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32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 appreciate your time and engagement today. I look forward joining the in future.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1196</Words>
  <Application>Microsoft Office PowerPoint</Application>
  <PresentationFormat>Custom</PresentationFormat>
  <Paragraphs>149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Cambria</vt:lpstr>
      <vt:lpstr>Prata</vt:lpstr>
      <vt:lpstr>Raleway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 S, Bharathwaj</cp:lastModifiedBy>
  <cp:revision>30</cp:revision>
  <dcterms:created xsi:type="dcterms:W3CDTF">2025-06-09T14:56:13Z</dcterms:created>
  <dcterms:modified xsi:type="dcterms:W3CDTF">2025-06-10T16:21:10Z</dcterms:modified>
</cp:coreProperties>
</file>